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anva Sans" panose="020B0604020202020204" charset="0"/>
      <p:regular r:id="rId14"/>
    </p:embeddedFont>
    <p:embeddedFont>
      <p:font typeface="Inter" panose="020B0604020202020204" charset="0"/>
      <p:regular r:id="rId15"/>
    </p:embeddedFont>
    <p:embeddedFont>
      <p:font typeface="Inter Bold" panose="020B0604020202020204" charset="0"/>
      <p:regular r:id="rId16"/>
    </p:embeddedFont>
    <p:embeddedFont>
      <p:font typeface="TT Moons"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CBBB78-052C-8C72-D903-6C100EB036F3}" v="74" dt="2025-05-02T17:24:57.1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iva, Ndjiakou Kaptue (vyg6ef)" userId="S::vyg6ef@virginia.edu::ee182a6f-d247-421e-84db-316afac6fe8c" providerId="AD" clId="Web-{15CBBB78-052C-8C72-D903-6C100EB036F3}"/>
    <pc:docChg chg="addSld delSld modSld">
      <pc:chgData name="Maiva, Ndjiakou Kaptue (vyg6ef)" userId="S::vyg6ef@virginia.edu::ee182a6f-d247-421e-84db-316afac6fe8c" providerId="AD" clId="Web-{15CBBB78-052C-8C72-D903-6C100EB036F3}" dt="2025-05-02T17:33:01.744" v="435"/>
      <pc:docMkLst>
        <pc:docMk/>
      </pc:docMkLst>
      <pc:sldChg chg="modSp modNotes">
        <pc:chgData name="Maiva, Ndjiakou Kaptue (vyg6ef)" userId="S::vyg6ef@virginia.edu::ee182a6f-d247-421e-84db-316afac6fe8c" providerId="AD" clId="Web-{15CBBB78-052C-8C72-D903-6C100EB036F3}" dt="2025-05-02T17:04:43.817" v="370"/>
        <pc:sldMkLst>
          <pc:docMk/>
          <pc:sldMk cId="0" sldId="257"/>
        </pc:sldMkLst>
        <pc:spChg chg="mod">
          <ac:chgData name="Maiva, Ndjiakou Kaptue (vyg6ef)" userId="S::vyg6ef@virginia.edu::ee182a6f-d247-421e-84db-316afac6fe8c" providerId="AD" clId="Web-{15CBBB78-052C-8C72-D903-6C100EB036F3}" dt="2025-05-02T16:23:22.358" v="14" actId="20577"/>
          <ac:spMkLst>
            <pc:docMk/>
            <pc:sldMk cId="0" sldId="257"/>
            <ac:spMk id="9" creationId="{00000000-0000-0000-0000-000000000000}"/>
          </ac:spMkLst>
        </pc:spChg>
      </pc:sldChg>
      <pc:sldChg chg="addSp delSp modSp modNotes">
        <pc:chgData name="Maiva, Ndjiakou Kaptue (vyg6ef)" userId="S::vyg6ef@virginia.edu::ee182a6f-d247-421e-84db-316afac6fe8c" providerId="AD" clId="Web-{15CBBB78-052C-8C72-D903-6C100EB036F3}" dt="2025-05-02T17:33:01.744" v="435"/>
        <pc:sldMkLst>
          <pc:docMk/>
          <pc:sldMk cId="0" sldId="258"/>
        </pc:sldMkLst>
        <pc:graphicFrameChg chg="del mod">
          <ac:chgData name="Maiva, Ndjiakou Kaptue (vyg6ef)" userId="S::vyg6ef@virginia.edu::ee182a6f-d247-421e-84db-316afac6fe8c" providerId="AD" clId="Web-{15CBBB78-052C-8C72-D903-6C100EB036F3}" dt="2025-05-02T16:19:56.756" v="1"/>
          <ac:graphicFrameMkLst>
            <pc:docMk/>
            <pc:sldMk cId="0" sldId="258"/>
            <ac:graphicFrameMk id="5" creationId="{00000000-0000-0000-0000-000000000000}"/>
          </ac:graphicFrameMkLst>
        </pc:graphicFrameChg>
        <pc:graphicFrameChg chg="add mod modGraphic">
          <ac:chgData name="Maiva, Ndjiakou Kaptue (vyg6ef)" userId="S::vyg6ef@virginia.edu::ee182a6f-d247-421e-84db-316afac6fe8c" providerId="AD" clId="Web-{15CBBB78-052C-8C72-D903-6C100EB036F3}" dt="2025-05-02T16:20:30.273" v="4"/>
          <ac:graphicFrameMkLst>
            <pc:docMk/>
            <pc:sldMk cId="0" sldId="258"/>
            <ac:graphicFrameMk id="8" creationId="{13AA9FA1-B21C-F9B0-77A6-5D5805410989}"/>
          </ac:graphicFrameMkLst>
        </pc:graphicFrameChg>
      </pc:sldChg>
      <pc:sldChg chg="modNotes">
        <pc:chgData name="Maiva, Ndjiakou Kaptue (vyg6ef)" userId="S::vyg6ef@virginia.edu::ee182a6f-d247-421e-84db-316afac6fe8c" providerId="AD" clId="Web-{15CBBB78-052C-8C72-D903-6C100EB036F3}" dt="2025-05-02T17:17:49.770" v="423"/>
        <pc:sldMkLst>
          <pc:docMk/>
          <pc:sldMk cId="0" sldId="259"/>
        </pc:sldMkLst>
      </pc:sldChg>
      <pc:sldChg chg="modSp modNotes">
        <pc:chgData name="Maiva, Ndjiakou Kaptue (vyg6ef)" userId="S::vyg6ef@virginia.edu::ee182a6f-d247-421e-84db-316afac6fe8c" providerId="AD" clId="Web-{15CBBB78-052C-8C72-D903-6C100EB036F3}" dt="2025-05-02T17:05:59.429" v="406"/>
        <pc:sldMkLst>
          <pc:docMk/>
          <pc:sldMk cId="0" sldId="260"/>
        </pc:sldMkLst>
        <pc:spChg chg="mod">
          <ac:chgData name="Maiva, Ndjiakou Kaptue (vyg6ef)" userId="S::vyg6ef@virginia.edu::ee182a6f-d247-421e-84db-316afac6fe8c" providerId="AD" clId="Web-{15CBBB78-052C-8C72-D903-6C100EB036F3}" dt="2025-05-02T16:42:22.685" v="230" actId="20577"/>
          <ac:spMkLst>
            <pc:docMk/>
            <pc:sldMk cId="0" sldId="260"/>
            <ac:spMk id="8" creationId="{00000000-0000-0000-0000-000000000000}"/>
          </ac:spMkLst>
        </pc:spChg>
      </pc:sldChg>
      <pc:sldChg chg="modSp modNotes">
        <pc:chgData name="Maiva, Ndjiakou Kaptue (vyg6ef)" userId="S::vyg6ef@virginia.edu::ee182a6f-d247-421e-84db-316afac6fe8c" providerId="AD" clId="Web-{15CBBB78-052C-8C72-D903-6C100EB036F3}" dt="2025-05-02T17:11:46.443" v="418"/>
        <pc:sldMkLst>
          <pc:docMk/>
          <pc:sldMk cId="0" sldId="261"/>
        </pc:sldMkLst>
        <pc:spChg chg="mod">
          <ac:chgData name="Maiva, Ndjiakou Kaptue (vyg6ef)" userId="S::vyg6ef@virginia.edu::ee182a6f-d247-421e-84db-316afac6fe8c" providerId="AD" clId="Web-{15CBBB78-052C-8C72-D903-6C100EB036F3}" dt="2025-05-02T16:48:18.762" v="264" actId="20577"/>
          <ac:spMkLst>
            <pc:docMk/>
            <pc:sldMk cId="0" sldId="261"/>
            <ac:spMk id="6" creationId="{00000000-0000-0000-0000-000000000000}"/>
          </ac:spMkLst>
        </pc:spChg>
        <pc:spChg chg="mod">
          <ac:chgData name="Maiva, Ndjiakou Kaptue (vyg6ef)" userId="S::vyg6ef@virginia.edu::ee182a6f-d247-421e-84db-316afac6fe8c" providerId="AD" clId="Web-{15CBBB78-052C-8C72-D903-6C100EB036F3}" dt="2025-05-02T16:41:53.559" v="226" actId="1076"/>
          <ac:spMkLst>
            <pc:docMk/>
            <pc:sldMk cId="0" sldId="261"/>
            <ac:spMk id="7" creationId="{00000000-0000-0000-0000-000000000000}"/>
          </ac:spMkLst>
        </pc:spChg>
      </pc:sldChg>
      <pc:sldChg chg="modNotes">
        <pc:chgData name="Maiva, Ndjiakou Kaptue (vyg6ef)" userId="S::vyg6ef@virginia.edu::ee182a6f-d247-421e-84db-316afac6fe8c" providerId="AD" clId="Web-{15CBBB78-052C-8C72-D903-6C100EB036F3}" dt="2025-05-02T16:44:25.331" v="232"/>
        <pc:sldMkLst>
          <pc:docMk/>
          <pc:sldMk cId="0" sldId="262"/>
        </pc:sldMkLst>
      </pc:sldChg>
      <pc:sldChg chg="modNotes">
        <pc:chgData name="Maiva, Ndjiakou Kaptue (vyg6ef)" userId="S::vyg6ef@virginia.edu::ee182a6f-d247-421e-84db-316afac6fe8c" providerId="AD" clId="Web-{15CBBB78-052C-8C72-D903-6C100EB036F3}" dt="2025-05-02T17:18:17.568" v="425"/>
        <pc:sldMkLst>
          <pc:docMk/>
          <pc:sldMk cId="0" sldId="263"/>
        </pc:sldMkLst>
      </pc:sldChg>
      <pc:sldChg chg="delSp modSp modNotes">
        <pc:chgData name="Maiva, Ndjiakou Kaptue (vyg6ef)" userId="S::vyg6ef@virginia.edu::ee182a6f-d247-421e-84db-316afac6fe8c" providerId="AD" clId="Web-{15CBBB78-052C-8C72-D903-6C100EB036F3}" dt="2025-05-02T17:24:57.100" v="433"/>
        <pc:sldMkLst>
          <pc:docMk/>
          <pc:sldMk cId="0" sldId="264"/>
        </pc:sldMkLst>
        <pc:spChg chg="mod">
          <ac:chgData name="Maiva, Ndjiakou Kaptue (vyg6ef)" userId="S::vyg6ef@virginia.edu::ee182a6f-d247-421e-84db-316afac6fe8c" providerId="AD" clId="Web-{15CBBB78-052C-8C72-D903-6C100EB036F3}" dt="2025-05-02T17:24:35.802" v="430" actId="14100"/>
          <ac:spMkLst>
            <pc:docMk/>
            <pc:sldMk cId="0" sldId="264"/>
            <ac:spMk id="3" creationId="{00000000-0000-0000-0000-000000000000}"/>
          </ac:spMkLst>
        </pc:spChg>
        <pc:spChg chg="mod">
          <ac:chgData name="Maiva, Ndjiakou Kaptue (vyg6ef)" userId="S::vyg6ef@virginia.edu::ee182a6f-d247-421e-84db-316afac6fe8c" providerId="AD" clId="Web-{15CBBB78-052C-8C72-D903-6C100EB036F3}" dt="2025-05-02T17:24:39.256" v="431" actId="1076"/>
          <ac:spMkLst>
            <pc:docMk/>
            <pc:sldMk cId="0" sldId="264"/>
            <ac:spMk id="4" creationId="{00000000-0000-0000-0000-000000000000}"/>
          </ac:spMkLst>
        </pc:spChg>
        <pc:spChg chg="del mod">
          <ac:chgData name="Maiva, Ndjiakou Kaptue (vyg6ef)" userId="S::vyg6ef@virginia.edu::ee182a6f-d247-421e-84db-316afac6fe8c" providerId="AD" clId="Web-{15CBBB78-052C-8C72-D903-6C100EB036F3}" dt="2025-05-02T17:24:57.100" v="433"/>
          <ac:spMkLst>
            <pc:docMk/>
            <pc:sldMk cId="0" sldId="264"/>
            <ac:spMk id="8" creationId="{00000000-0000-0000-0000-000000000000}"/>
          </ac:spMkLst>
        </pc:spChg>
      </pc:sldChg>
      <pc:sldChg chg="new del">
        <pc:chgData name="Maiva, Ndjiakou Kaptue (vyg6ef)" userId="S::vyg6ef@virginia.edu::ee182a6f-d247-421e-84db-316afac6fe8c" providerId="AD" clId="Web-{15CBBB78-052C-8C72-D903-6C100EB036F3}" dt="2025-05-02T17:11:22.380" v="414"/>
        <pc:sldMkLst>
          <pc:docMk/>
          <pc:sldMk cId="2879351091"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38F66C-5FB9-4813-A6F3-F96FD2A089AF}" type="datetimeFigureOut">
              <a:t>5/2/2025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4F9A8F-36A1-478B-BBFF-28226E305595}" type="slidenum">
              <a:t>‹#›</a:t>
            </a:fld>
            <a:endParaRPr lang="en-US"/>
          </a:p>
        </p:txBody>
      </p:sp>
    </p:spTree>
    <p:extLst>
      <p:ext uri="{BB962C8B-B14F-4D97-AF65-F5344CB8AC3E}">
        <p14:creationId xmlns:p14="http://schemas.microsoft.com/office/powerpoint/2010/main" val="1726895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bing.com/ck/a?!&amp;&amp;p=6f9b48100f6711301e18d757e10bc6102dbbe6156455e5557e56f12268914befJmltdHM9MTc0NjE0NDAwMA&amp;ptn=3&amp;ver=2&amp;hsh=4&amp;fclid=0ad011d4-a945-6773-0d4c-041ea8e866cb&amp;u=a1aHR0cDovL3d3dy5weW5xLmlvL2JvYXJkcy5odG1s&amp;ntb=1"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early stages of our project, our primary goal was to implement an accurate lung cancer image classification system, with a focus on comparing software-based processing to hardware acceleration using an FPGA board. The overall objective was to determine which implementation—software or hardware—provides the most efficient balance between accuracy and processing speed for medical image classification.</a:t>
            </a:r>
          </a:p>
          <a:p>
            <a:r>
              <a:rPr lang="en-US" dirty="0">
                <a:ea typeface="Calibri"/>
                <a:cs typeface="Calibri"/>
              </a:rPr>
              <a:t>The requirement for our Analysis was : </a:t>
            </a:r>
          </a:p>
          <a:p>
            <a:pPr marL="690245" lvl="1" indent="-344805" algn="just">
              <a:lnSpc>
                <a:spcPts val="4479"/>
              </a:lnSpc>
              <a:buFont typeface="Arial,Sans-Serif"/>
              <a:buChar char="•"/>
            </a:pPr>
            <a:r>
              <a:rPr lang="en-US" dirty="0"/>
              <a:t>Dataset: Kaggle lung cancer CT image dataset.</a:t>
            </a:r>
            <a:endParaRPr lang="en-US" dirty="0">
              <a:ea typeface="Calibri"/>
              <a:cs typeface="Calibri"/>
            </a:endParaRPr>
          </a:p>
          <a:p>
            <a:pPr marL="690245" lvl="1" indent="-344805" algn="just">
              <a:lnSpc>
                <a:spcPts val="4479"/>
              </a:lnSpc>
              <a:buFont typeface="Arial,Sans-Serif"/>
              <a:buChar char="•"/>
            </a:pPr>
            <a:r>
              <a:rPr lang="en-US" dirty="0"/>
              <a:t>Software Stack: </a:t>
            </a:r>
            <a:r>
              <a:rPr lang="en-US" dirty="0" err="1"/>
              <a:t>PyTorch</a:t>
            </a:r>
            <a:r>
              <a:rPr lang="en-US" dirty="0"/>
              <a:t>, NumPy, OpenCV, Python 327 (for training).</a:t>
            </a:r>
            <a:endParaRPr lang="en-US" dirty="0">
              <a:ea typeface="Calibri"/>
              <a:cs typeface="Calibri"/>
            </a:endParaRPr>
          </a:p>
          <a:p>
            <a:pPr marL="690245" lvl="1" indent="-344805" algn="just">
              <a:lnSpc>
                <a:spcPts val="4479"/>
              </a:lnSpc>
              <a:buFont typeface="Arial,Sans-Serif"/>
              <a:buChar char="•"/>
            </a:pPr>
            <a:r>
              <a:rPr lang="en-US"/>
              <a:t>Hardware Platform: PYNQ-Z1 FPGA board.</a:t>
            </a:r>
          </a:p>
          <a:p>
            <a:pPr marL="345440" lvl="1" algn="just">
              <a:lnSpc>
                <a:spcPts val="4479"/>
              </a:lnSpc>
            </a:pPr>
            <a:r>
              <a:rPr lang="en-US" dirty="0"/>
              <a:t>We choose to use PYNQ-Z1 because of its potential for </a:t>
            </a:r>
            <a:r>
              <a:rPr lang="en-US" b="1" dirty="0"/>
              <a:t>low-latency inference</a:t>
            </a:r>
            <a:r>
              <a:rPr lang="en-US" dirty="0"/>
              <a:t> using hardware-accelerated binary neural networks (BNNs). Unlike software execution, FPGA-based inference can be parallelized and optimized at the hardware level, making it highly efficient for embedded or edge AI applications like medical diagnostics.</a:t>
            </a:r>
            <a:endParaRPr lang="en-US">
              <a:ea typeface="Calibri"/>
              <a:cs typeface="Calibri"/>
            </a:endParaRPr>
          </a:p>
          <a:p>
            <a:pPr marL="345440" lvl="1" algn="just">
              <a:lnSpc>
                <a:spcPts val="4479"/>
              </a:lnSpc>
            </a:pPr>
            <a:endParaRPr lang="en-US" dirty="0">
              <a:ea typeface="Calibri"/>
              <a:cs typeface="Calibri"/>
            </a:endParaRPr>
          </a:p>
          <a:p>
            <a:pPr marL="690245" lvl="1" indent="-344805" algn="just">
              <a:lnSpc>
                <a:spcPts val="4479"/>
              </a:lnSpc>
              <a:buFont typeface="Arial,Sans-Serif"/>
              <a:buChar char="•"/>
            </a:pPr>
            <a:r>
              <a:rPr lang="en-US" dirty="0"/>
              <a:t>BNN Framework: BNN-PYNQ (for feature extraction &amp; acceleration).</a:t>
            </a:r>
            <a:endParaRPr lang="en-US" dirty="0">
              <a:ea typeface="Calibri"/>
              <a:cs typeface="Calibri"/>
            </a:endParaRPr>
          </a:p>
          <a:p>
            <a:pPr marL="345440" lvl="1" algn="just">
              <a:lnSpc>
                <a:spcPts val="4479"/>
              </a:lnSpc>
            </a:pPr>
            <a:endParaRPr lang="en-US" dirty="0">
              <a:ea typeface="Calibri"/>
              <a:cs typeface="Calibri"/>
            </a:endParaRPr>
          </a:p>
          <a:p>
            <a:pPr lvl="1" algn="just"/>
            <a:r>
              <a:rPr lang="en-US" dirty="0"/>
              <a:t>While following the project steps we decided to use  </a:t>
            </a:r>
            <a:r>
              <a:rPr lang="en-US" b="1" dirty="0"/>
              <a:t>BNN-PYNQ framework</a:t>
            </a:r>
            <a:r>
              <a:rPr lang="en-US" dirty="0"/>
              <a:t>, which abstracts away the complexity of HDL development by providing Python-accessible overlays. This allowed us to focus on integrating the classifier with real medical data rather than writing RTL from scratch.</a:t>
            </a:r>
            <a:endParaRPr lang="en-US" dirty="0">
              <a:ea typeface="Calibri" panose="020F0502020204030204"/>
              <a:cs typeface="Calibri" panose="020F0502020204030204"/>
            </a:endParaRPr>
          </a:p>
          <a:p>
            <a:pPr marL="345440" lvl="1" algn="just">
              <a:lnSpc>
                <a:spcPts val="4479"/>
              </a:lnSpc>
              <a:buFont typeface="Arial,Sans-Serif"/>
            </a:pPr>
            <a:endParaRPr lang="en-US" dirty="0">
              <a:ea typeface="Calibri" panose="020F0502020204030204"/>
              <a:cs typeface="Calibri" panose="020F0502020204030204"/>
            </a:endParaRPr>
          </a:p>
          <a:p>
            <a:pPr marL="690245" lvl="1" indent="-344805" algn="just">
              <a:lnSpc>
                <a:spcPts val="4479"/>
              </a:lnSpc>
              <a:buFont typeface="Arial,Sans-Serif"/>
              <a:buChar char="•"/>
            </a:pPr>
            <a:r>
              <a:rPr lang="en-US" dirty="0"/>
              <a:t>Time Constraints: Limited project timeframe necessitated using existing frameworks instead of full custom RTL.</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24F9A8F-36A1-478B-BBFF-28226E305595}" type="slidenum">
              <a:t>2</a:t>
            </a:fld>
            <a:endParaRPr lang="en-US"/>
          </a:p>
        </p:txBody>
      </p:sp>
    </p:spTree>
    <p:extLst>
      <p:ext uri="{BB962C8B-B14F-4D97-AF65-F5344CB8AC3E}">
        <p14:creationId xmlns:p14="http://schemas.microsoft.com/office/powerpoint/2010/main" val="408311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initial exploration with a </a:t>
            </a:r>
            <a:r>
              <a:rPr lang="en-US" b="1" dirty="0"/>
              <a:t>Custom Verilog Design</a:t>
            </a:r>
            <a:r>
              <a:rPr lang="en-US" dirty="0"/>
              <a:t> was guided by academic ambition—we wanted to gain hands-on experience implementing low-level FPGA logic for neural networks. However, the complexity of designing, verifying, and testing a custom CNN from scratch using hardware description languages proved impractical within our project timeline. We concluded that this path would be better suited for a long-term thesis or industry-level work.</a:t>
            </a:r>
          </a:p>
          <a:p>
            <a:r>
              <a:rPr lang="en-US" dirty="0"/>
              <a:t>Next, we pivoted to </a:t>
            </a:r>
            <a:r>
              <a:rPr lang="en-US" b="1" dirty="0" err="1"/>
              <a:t>DNNWeaver</a:t>
            </a:r>
            <a:r>
              <a:rPr lang="en-US" b="1" dirty="0"/>
              <a:t> 2.0</a:t>
            </a:r>
            <a:r>
              <a:rPr lang="en-US" dirty="0"/>
              <a:t>, an open-source tool designed to bridge high-level deep learning models and low-level hardware synthesis. While </a:t>
            </a:r>
            <a:r>
              <a:rPr lang="en-US" dirty="0" err="1"/>
              <a:t>DNNWeaver</a:t>
            </a:r>
            <a:r>
              <a:rPr lang="en-US" dirty="0"/>
              <a:t> theoretically provided a way to convert </a:t>
            </a:r>
            <a:r>
              <a:rPr lang="en-US" dirty="0" err="1"/>
              <a:t>Keras</a:t>
            </a:r>
            <a:r>
              <a:rPr lang="en-US" dirty="0"/>
              <a:t> models to Verilog, we encountered several roadblocks. These included strict dependencies on outdated Python versions (e.g., Python 2.7), deprecated TensorFlow APIs, and limited community support. Despite setting up the recommended virtual environment and installing </a:t>
            </a:r>
            <a:r>
              <a:rPr lang="en-US" dirty="0" err="1"/>
              <a:t>Vivado</a:t>
            </a:r>
            <a:r>
              <a:rPr lang="en-US" dirty="0"/>
              <a:t> 2018.2, compilation errors and cryptic configuration mismatches persisted. We determined that investing further time in debugging this framework would not guarantee successful deployment within the project deadline.</a:t>
            </a:r>
            <a:endParaRPr lang="en-US" dirty="0">
              <a:ea typeface="Calibri"/>
              <a:cs typeface="Calibri"/>
            </a:endParaRPr>
          </a:p>
          <a:p>
            <a:r>
              <a:rPr lang="en-US" dirty="0"/>
              <a:t>Ultimately, we selected the </a:t>
            </a:r>
            <a:r>
              <a:rPr lang="en-US" b="1" dirty="0"/>
              <a:t>BNN-PYNQ</a:t>
            </a:r>
            <a:r>
              <a:rPr lang="en-US" dirty="0"/>
              <a:t> approach as our final implementation strategy. This framework provides a suite of pre-compiled BNN overlays optimized for the PYNQ-Z1 board, along with </a:t>
            </a:r>
            <a:r>
              <a:rPr lang="en-US" dirty="0" err="1"/>
              <a:t>Jupyter</a:t>
            </a:r>
            <a:r>
              <a:rPr lang="en-US" dirty="0"/>
              <a:t> Notebook-based control interfaces. Its design aligns with our project goals—rapid deployment, simplified debugging, and functional integration with Python scripts. Using BNN-PYNQ, we were able to shift our attention from toolchain configuration to meaningful experimentation with real medical image data.</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24F9A8F-36A1-478B-BBFF-28226E305595}" type="slidenum">
              <a:t>3</a:t>
            </a:fld>
            <a:endParaRPr lang="en-US"/>
          </a:p>
        </p:txBody>
      </p:sp>
    </p:spTree>
    <p:extLst>
      <p:ext uri="{BB962C8B-B14F-4D97-AF65-F5344CB8AC3E}">
        <p14:creationId xmlns:p14="http://schemas.microsoft.com/office/powerpoint/2010/main" val="24484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implement the final BNN-PYNQ approach, we followed several setup steps:</a:t>
            </a:r>
          </a:p>
          <a:p>
            <a:pPr marL="285750" indent="-285750">
              <a:buFont typeface="Arial"/>
              <a:buChar char="•"/>
            </a:pPr>
            <a:r>
              <a:rPr lang="en-US" dirty="0"/>
              <a:t>We cloned the official BNN-PYNQ GitHub repository.</a:t>
            </a:r>
            <a:endParaRPr lang="en-US" dirty="0">
              <a:ea typeface="Calibri"/>
              <a:cs typeface="Calibri"/>
            </a:endParaRPr>
          </a:p>
          <a:p>
            <a:r>
              <a:rPr lang="en-US" dirty="0">
                <a:ea typeface="Calibri"/>
                <a:cs typeface="Calibri"/>
              </a:rPr>
              <a:t>In this directory we have several notebook . These notebooks use one of the two overlay </a:t>
            </a:r>
          </a:p>
          <a:p>
            <a:r>
              <a:rPr lang="en-US" dirty="0"/>
              <a:t>An overlay is a  </a:t>
            </a:r>
            <a:r>
              <a:rPr lang="en-US" b="1" dirty="0"/>
              <a:t>virtual, re-configurable architectures that sit on top of physical FPGA fabrics</a:t>
            </a:r>
            <a:r>
              <a:rPr lang="en-US" dirty="0"/>
              <a:t>. It is specialized for an application, or a class of applications, offers both fast reconfiguration and minimized performance penalty.</a:t>
            </a:r>
            <a:endParaRPr lang="en-US" dirty="0">
              <a:ea typeface="Calibri"/>
              <a:cs typeface="Calibri"/>
            </a:endParaRPr>
          </a:p>
          <a:p>
            <a:r>
              <a:rPr lang="en-US" dirty="0"/>
              <a:t>the example notebook, the </a:t>
            </a:r>
            <a:r>
              <a:rPr lang="en-US" dirty="0" err="1"/>
              <a:t>bnn</a:t>
            </a:r>
            <a:r>
              <a:rPr lang="en-US" dirty="0"/>
              <a:t> package is first imported. The bnn.py file contains a detailed description of </a:t>
            </a:r>
            <a:r>
              <a:rPr lang="en-US" dirty="0" err="1"/>
              <a:t>bnn</a:t>
            </a:r>
            <a:r>
              <a:rPr lang="en-US" dirty="0"/>
              <a:t>, which includes the FPGA driver programming. In bnn.py, it mainly contains the definition of three classes: </a:t>
            </a:r>
            <a:r>
              <a:rPr lang="en-US" dirty="0" err="1"/>
              <a:t>PynqBNN</a:t>
            </a:r>
            <a:r>
              <a:rPr lang="en-US" dirty="0"/>
              <a:t>, </a:t>
            </a:r>
            <a:r>
              <a:rPr lang="en-US" dirty="0" err="1"/>
              <a:t>CnvClassifier</a:t>
            </a:r>
            <a:r>
              <a:rPr lang="en-US" dirty="0"/>
              <a:t>, </a:t>
            </a:r>
            <a:r>
              <a:rPr lang="en-US" dirty="0" err="1"/>
              <a:t>LfcClassifier</a:t>
            </a:r>
            <a:r>
              <a:rPr lang="en-US" dirty="0"/>
              <a:t>. Among them, </a:t>
            </a:r>
            <a:r>
              <a:rPr lang="en-US" dirty="0" err="1"/>
              <a:t>PynqBNN</a:t>
            </a:r>
            <a:r>
              <a:rPr lang="en-US" dirty="0"/>
              <a:t> is mainly used as a shared library to load the specified network and download the bitstream to the FPGA (PL); </a:t>
            </a:r>
            <a:r>
              <a:rPr lang="en-US" dirty="0" err="1"/>
              <a:t>CnvClassifier</a:t>
            </a:r>
            <a:r>
              <a:rPr lang="en-US" dirty="0"/>
              <a:t> is the classifier class of the CNV network, used to infer the image of the cifar10 format and the image that requires preprocessing; </a:t>
            </a:r>
            <a:r>
              <a:rPr lang="en-US" dirty="0" err="1"/>
              <a:t>LfcClassifier</a:t>
            </a:r>
            <a:r>
              <a:rPr lang="en-US" dirty="0"/>
              <a:t> is LFC The classifier class of the network is used to infer images in </a:t>
            </a:r>
            <a:r>
              <a:rPr lang="en-US" dirty="0" err="1"/>
              <a:t>mnist</a:t>
            </a:r>
            <a:r>
              <a:rPr lang="en-US" dirty="0"/>
              <a:t> format. When the two classes are constructed, they will load the shared library and download the bitstream to the FPGA (PL).</a:t>
            </a:r>
            <a:endParaRPr lang="en-US" dirty="0">
              <a:ea typeface="Calibri"/>
              <a:cs typeface="Calibri"/>
            </a:endParaRPr>
          </a:p>
          <a:p>
            <a:r>
              <a:rPr lang="en-US" dirty="0"/>
              <a:t>A </a:t>
            </a:r>
            <a:r>
              <a:rPr lang="en-US" b="1" dirty="0" err="1"/>
              <a:t>Lfc</a:t>
            </a:r>
            <a:r>
              <a:rPr lang="en-US" b="1" dirty="0"/>
              <a:t> classifier in neural network</a:t>
            </a:r>
            <a:r>
              <a:rPr lang="en-US" dirty="0"/>
              <a:t> is a combined linear and neural network classifier that performs classification on specified features. It uses both linear and neural network components to predict the class of data.</a:t>
            </a:r>
            <a:endParaRPr lang="en-US" b="1" dirty="0">
              <a:ea typeface="Calibri"/>
              <a:cs typeface="Calibri"/>
            </a:endParaRPr>
          </a:p>
          <a:p>
            <a:r>
              <a:rPr lang="en-US" dirty="0"/>
              <a:t>Convolutional Neural Network (CNN) is an advanced version of artificial neural networks (ANNs), primarily designed to extract features from grid-like matrix datasets based on the </a:t>
            </a:r>
            <a:r>
              <a:rPr lang="en-US" dirty="0" err="1"/>
              <a:t>Adaboost</a:t>
            </a:r>
            <a:r>
              <a:rPr lang="en-US" dirty="0"/>
              <a:t> Algorithm. </a:t>
            </a:r>
          </a:p>
          <a:p>
            <a:br>
              <a:rPr lang="en-US" dirty="0"/>
            </a:br>
            <a:endParaRPr lang="en-US" dirty="0"/>
          </a:p>
          <a:p>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C24F9A8F-36A1-478B-BBFF-28226E305595}" type="slidenum">
              <a:t>4</a:t>
            </a:fld>
            <a:endParaRPr lang="en-US"/>
          </a:p>
        </p:txBody>
      </p:sp>
    </p:spTree>
    <p:extLst>
      <p:ext uri="{BB962C8B-B14F-4D97-AF65-F5344CB8AC3E}">
        <p14:creationId xmlns:p14="http://schemas.microsoft.com/office/powerpoint/2010/main" val="1619373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Sans-Serif"/>
              <a:buChar char="•"/>
            </a:pPr>
            <a:r>
              <a:rPr lang="en-US" dirty="0"/>
              <a:t>We connected the PYNQ-Z1 board to our PC and retrieved its IP address to access it via a web browser.</a:t>
            </a:r>
          </a:p>
          <a:p>
            <a:pPr marL="285750" indent="-285750">
              <a:buFont typeface="Arial,Sans-Serif"/>
              <a:buChar char="•"/>
            </a:pPr>
            <a:r>
              <a:rPr lang="en-US" dirty="0"/>
              <a:t>We installed a fresh PYNQ v2.5 image on the SD card to ensure compatibility with the tutorial and overlays.</a:t>
            </a:r>
          </a:p>
          <a:p>
            <a:r>
              <a:rPr lang="en-US" dirty="0"/>
              <a:t>Open-source project from AMD</a:t>
            </a:r>
            <a:endParaRPr lang="en-US" dirty="0">
              <a:ea typeface="Calibri" panose="020F0502020204030204"/>
              <a:cs typeface="Calibri" panose="020F0502020204030204"/>
            </a:endParaRPr>
          </a:p>
          <a:p>
            <a:r>
              <a:rPr lang="en-US" i="1" dirty="0">
                <a:hlinkClick r:id="rId3"/>
              </a:rPr>
              <a:t>A </a:t>
            </a:r>
            <a:r>
              <a:rPr lang="en-US" b="1" i="1" dirty="0">
                <a:hlinkClick r:id="rId3"/>
              </a:rPr>
              <a:t>PYNQ image in FPGA design</a:t>
            </a:r>
            <a:r>
              <a:rPr lang="en-US" i="1" dirty="0">
                <a:hlinkClick r:id="rId3"/>
              </a:rPr>
              <a:t> is an open-source project  that allows designers to use the Python language and libraries to exploit the benefits of programmable logic and micro-processors on AMD platforms</a:t>
            </a:r>
            <a:r>
              <a:rPr lang="en-US" i="1" dirty="0"/>
              <a:t>. We </a:t>
            </a:r>
            <a:r>
              <a:rPr lang="en-US" i="1" dirty="0" err="1"/>
              <a:t>installated</a:t>
            </a:r>
            <a:r>
              <a:rPr lang="en-US" i="1" dirty="0"/>
              <a:t> the bootable prebuilt image version 2.5 In order to correct the missing library </a:t>
            </a:r>
            <a:r>
              <a:rPr lang="en-US" i="1" dirty="0" err="1"/>
              <a:t>bnn.h</a:t>
            </a:r>
            <a:r>
              <a:rPr lang="en-US" i="1" dirty="0"/>
              <a:t> error that we were encountering while </a:t>
            </a:r>
            <a:r>
              <a:rPr lang="en-US" i="1" dirty="0" err="1"/>
              <a:t>runing</a:t>
            </a:r>
            <a:r>
              <a:rPr lang="en-US" i="1" dirty="0"/>
              <a:t> the project . </a:t>
            </a:r>
            <a:endParaRPr lang="en-US" i="1" dirty="0">
              <a:ea typeface="Calibri"/>
              <a:cs typeface="Calibri"/>
            </a:endParaRPr>
          </a:p>
          <a:p>
            <a:pPr>
              <a:buFont typeface="Arial,Sans-Serif"/>
            </a:pPr>
            <a:r>
              <a:rPr lang="en-US" dirty="0">
                <a:ea typeface="Calibri"/>
                <a:cs typeface="Calibri"/>
              </a:rPr>
              <a:t>We connected the board and access the online </a:t>
            </a:r>
            <a:r>
              <a:rPr lang="en-US" dirty="0" err="1">
                <a:ea typeface="Calibri"/>
                <a:cs typeface="Calibri"/>
              </a:rPr>
              <a:t>jupyter</a:t>
            </a:r>
            <a:r>
              <a:rPr lang="en-US" dirty="0">
                <a:ea typeface="Calibri"/>
                <a:cs typeface="Calibri"/>
              </a:rPr>
              <a:t> notebook on the board as shown in the picture </a:t>
            </a: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24F9A8F-36A1-478B-BBFF-28226E305595}" type="slidenum">
              <a:t>5</a:t>
            </a:fld>
            <a:endParaRPr lang="en-US"/>
          </a:p>
        </p:txBody>
      </p:sp>
    </p:spTree>
    <p:extLst>
      <p:ext uri="{BB962C8B-B14F-4D97-AF65-F5344CB8AC3E}">
        <p14:creationId xmlns:p14="http://schemas.microsoft.com/office/powerpoint/2010/main" val="1513888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Once our development environment was set up and the board was running PYNQ v2.5, the next major step was to evaluate which neural network architecture would be best suited for our lung cancer classification task. The BNN-PYNQ framework comes with two primary overlay types: CNV, which is a convolutional network designed for RGB images sized 32 by 32, and LFC, which is a fully connected network typically used for grayscale images sized 28 by 28.</a:t>
            </a:r>
          </a:p>
          <a:p>
            <a:r>
              <a:rPr lang="en-US" dirty="0"/>
              <a:t>We started by running several prebuilt tutorials provided in the BNN-PYNQ repository to test both overlays—CNV and LFC—on the provided CIFAR-10 dataset. Our objective was to compare both hardware and software executions based on two key metrics: </a:t>
            </a:r>
            <a:r>
              <a:rPr lang="en-US" b="1" dirty="0"/>
              <a:t>classification accuracy</a:t>
            </a:r>
            <a:r>
              <a:rPr lang="en-US" dirty="0"/>
              <a:t> and </a:t>
            </a:r>
            <a:r>
              <a:rPr lang="en-US" b="1" dirty="0"/>
              <a:t>inference time</a:t>
            </a:r>
            <a:r>
              <a:rPr lang="en-US" dirty="0"/>
              <a:t>.</a:t>
            </a:r>
            <a:endParaRPr lang="en-US" dirty="0">
              <a:ea typeface="Calibri"/>
              <a:cs typeface="Calibri"/>
            </a:endParaRPr>
          </a:p>
          <a:p>
            <a:r>
              <a:rPr lang="en-US" dirty="0"/>
              <a:t>For the CNV overlay, we evaluated different quantization modes including W1A1, W1A2, and W2A2. The best result on hardware was about 84.29% accuracy with W2A2, while the software equivalent achieved similar performance but took significantly longer—in our test, the inference time was around 700 seconds for the full batch.</a:t>
            </a:r>
            <a:endParaRPr lang="en-US" dirty="0">
              <a:ea typeface="Calibri"/>
              <a:cs typeface="Calibri"/>
            </a:endParaRPr>
          </a:p>
          <a:p>
            <a:r>
              <a:rPr lang="en-US" dirty="0"/>
              <a:t>For the LFC overlay, we saw even higher accuracy on the CIFAR dataset, with the hardware W2A2 configuration reaching 98.4%, and the software classifier scoring around 90%. However, since LFC is optimized for grayscale and our lung cancer images are in RGB, the CNV structure was more aligned with our data format.</a:t>
            </a:r>
            <a:endParaRPr lang="en-US" dirty="0">
              <a:ea typeface="Calibri"/>
              <a:cs typeface="Calibri"/>
            </a:endParaRPr>
          </a:p>
          <a:p>
            <a:r>
              <a:rPr lang="en-US" dirty="0"/>
              <a:t>After comparing both options, we decided to proceed with the CNV architecture, as it offered a good trade-off between accuracy, speed, and compatibility with our dataset format. This selection set the foundation for the next step—adapting our Kaggle lung cancer dataset for FPGA-based classification.</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24F9A8F-36A1-478B-BBFF-28226E305595}" type="slidenum">
              <a:t>6</a:t>
            </a:fld>
            <a:endParaRPr lang="en-US"/>
          </a:p>
        </p:txBody>
      </p:sp>
    </p:spTree>
    <p:extLst>
      <p:ext uri="{BB962C8B-B14F-4D97-AF65-F5344CB8AC3E}">
        <p14:creationId xmlns:p14="http://schemas.microsoft.com/office/powerpoint/2010/main" val="183337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dataset was downloaded from Kaggle and required preprocessing before it could be used with the BNN overlay.</a:t>
            </a:r>
          </a:p>
          <a:p>
            <a:r>
              <a:rPr lang="en-US" dirty="0"/>
              <a:t>The preprocessing included:</a:t>
            </a:r>
            <a:endParaRPr lang="en-US" dirty="0">
              <a:ea typeface="Calibri"/>
              <a:cs typeface="Calibri"/>
            </a:endParaRPr>
          </a:p>
          <a:p>
            <a:pPr marL="285750" indent="-285750">
              <a:buFont typeface="Arial"/>
              <a:buChar char="•"/>
            </a:pPr>
            <a:r>
              <a:rPr lang="en-US" dirty="0"/>
              <a:t>Writing Python scripts to reorganize the dataset into two labeled classes: </a:t>
            </a:r>
            <a:r>
              <a:rPr lang="en-US" b="1" dirty="0"/>
              <a:t>benign</a:t>
            </a:r>
            <a:r>
              <a:rPr lang="en-US" dirty="0"/>
              <a:t> and </a:t>
            </a:r>
            <a:r>
              <a:rPr lang="en-US" b="1" dirty="0"/>
              <a:t>malignant</a:t>
            </a:r>
            <a:r>
              <a:rPr lang="en-US" dirty="0"/>
              <a:t>.</a:t>
            </a:r>
            <a:endParaRPr lang="en-US" dirty="0">
              <a:ea typeface="Calibri"/>
              <a:cs typeface="Calibri"/>
            </a:endParaRPr>
          </a:p>
          <a:p>
            <a:pPr marL="285750" indent="-285750">
              <a:buFont typeface="Arial"/>
              <a:buChar char="•"/>
            </a:pPr>
            <a:r>
              <a:rPr lang="en-US" dirty="0"/>
              <a:t>Resizing all image data to compatible dimensions (32x32), to facilitate smoother integration with the FPGA overlay and ensure uniformity in training and inference.</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24F9A8F-36A1-478B-BBFF-28226E305595}" type="slidenum">
              <a:t>7</a:t>
            </a:fld>
            <a:endParaRPr lang="en-US"/>
          </a:p>
        </p:txBody>
      </p:sp>
    </p:spTree>
    <p:extLst>
      <p:ext uri="{BB962C8B-B14F-4D97-AF65-F5344CB8AC3E}">
        <p14:creationId xmlns:p14="http://schemas.microsoft.com/office/powerpoint/2010/main" val="4160668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begin the hardware acceleration phase of our lung cancer classification project, I worked within the BNN-PYNQ repository, which provides pre-built binaries and scripts for deploying quantized neural networks on the PYNQ Z1 board.</a:t>
            </a:r>
          </a:p>
          <a:p>
            <a:r>
              <a:rPr lang="en-US"/>
              <a:t>The first step involved adapting the existing cifar10.py file. Originally, this script is tailored for classifying images from the CIFAR-10 dataset. However, since my project focuses on binary classification—distinguishing between benign and malignant lung cancer—I modified this script to handle two classes instead of ten. I updated the preprocessing pipeline to resize our medical images to 32x32 pixels, which is required for compatibility with the underlying BNN architecture.</a:t>
            </a:r>
          </a:p>
          <a:p>
            <a:r>
              <a:rPr lang="en-US"/>
              <a:t>I ran the modified script using the command:</a:t>
            </a:r>
          </a:p>
          <a:p>
            <a:r>
              <a:rPr lang="en-US"/>
              <a:t>nginx</a:t>
            </a:r>
          </a:p>
          <a:p>
            <a:r>
              <a:rPr lang="en-US" err="1"/>
              <a:t>CopyEdit</a:t>
            </a:r>
            <a:endParaRPr lang="en-US" dirty="0" err="1">
              <a:ea typeface="Calibri"/>
              <a:cs typeface="Calibri"/>
            </a:endParaRPr>
          </a:p>
          <a:p>
            <a:r>
              <a:rPr lang="en-US" dirty="0"/>
              <a:t>python cifar10.py
</a:t>
            </a:r>
            <a:endParaRPr lang="en-US" dirty="0">
              <a:ea typeface="Calibri"/>
              <a:cs typeface="Calibri"/>
            </a:endParaRPr>
          </a:p>
          <a:p>
            <a:r>
              <a:rPr lang="en-US"/>
              <a:t>This command executed the quantized training or inference process, depending on how I configured the script. It leverages Theano and FINN-style BNN layers to generate intermediate feature outputs in a format optimized for deployment on the FPGA.</a:t>
            </a:r>
          </a:p>
          <a:p>
            <a:r>
              <a:rPr lang="en-US"/>
              <a:t>While running the code, I used:</a:t>
            </a:r>
          </a:p>
          <a:p>
            <a:r>
              <a:rPr lang="en-US"/>
              <a:t>bash</a:t>
            </a:r>
          </a:p>
          <a:p>
            <a:r>
              <a:rPr lang="en-US" err="1"/>
              <a:t>CopyEdit</a:t>
            </a:r>
            <a:endParaRPr lang="en-US" dirty="0" err="1">
              <a:ea typeface="Calibri"/>
              <a:cs typeface="Calibri"/>
            </a:endParaRPr>
          </a:p>
          <a:p>
            <a:r>
              <a:rPr lang="en-US" dirty="0"/>
              <a:t>ls *rz
</a:t>
            </a:r>
            <a:endParaRPr lang="en-US" dirty="0">
              <a:ea typeface="Calibri"/>
              <a:cs typeface="Calibri"/>
            </a:endParaRPr>
          </a:p>
          <a:p>
            <a:r>
              <a:rPr lang="en-US"/>
              <a:t>to inspect the directory and confirm that the .</a:t>
            </a:r>
            <a:r>
              <a:rPr lang="en-US" err="1"/>
              <a:t>npz</a:t>
            </a:r>
            <a:r>
              <a:rPr lang="en-US"/>
              <a:t> file was generated. This .</a:t>
            </a:r>
            <a:r>
              <a:rPr lang="en-US" err="1"/>
              <a:t>npz</a:t>
            </a:r>
            <a:r>
              <a:rPr lang="en-US"/>
              <a:t> file is a compressed NumPy archive containing the trained network parameters, such as weights and biases. These are crucial because they are later used by the bitstream generation and inference engine on the PYNQ board.</a:t>
            </a:r>
          </a:p>
          <a:p>
            <a:r>
              <a:rPr lang="en-US"/>
              <a:t>Why is this important? Because this compressed file bridges the training environment and the FPGA runtime. Without it, the model could not be ported or run on the actual board. This step completes the software preparation phase and ensures our custom classifier is ready for hardware execution."</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24F9A8F-36A1-478B-BBFF-28226E305595}" type="slidenum">
              <a:t>8</a:t>
            </a:fld>
            <a:endParaRPr lang="en-US"/>
          </a:p>
        </p:txBody>
      </p:sp>
    </p:spTree>
    <p:extLst>
      <p:ext uri="{BB962C8B-B14F-4D97-AF65-F5344CB8AC3E}">
        <p14:creationId xmlns:p14="http://schemas.microsoft.com/office/powerpoint/2010/main" val="2275575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these .</a:t>
            </a:r>
            <a:r>
              <a:rPr lang="en-US" dirty="0" err="1"/>
              <a:t>npz</a:t>
            </a:r>
            <a:r>
              <a:rPr lang="en-US" dirty="0"/>
              <a:t> files are not directly usable by the FPGA overlay. To bridge this gap, we used a tool called </a:t>
            </a:r>
            <a:r>
              <a:rPr lang="en-US" b="1" dirty="0" err="1"/>
              <a:t>FINNthesizer</a:t>
            </a:r>
            <a:r>
              <a:rPr lang="en-US" dirty="0"/>
              <a:t>, provided within the same framework. </a:t>
            </a:r>
            <a:r>
              <a:rPr lang="en-US" dirty="0" err="1"/>
              <a:t>FINNthesizer</a:t>
            </a:r>
            <a:r>
              <a:rPr lang="en-US" dirty="0"/>
              <a:t> is responsible for converting the high-level model into a low-level representation that the hardware overlay can understand.</a:t>
            </a:r>
          </a:p>
          <a:p>
            <a:r>
              <a:rPr lang="en-US" dirty="0"/>
              <a:t>We ran the </a:t>
            </a:r>
            <a:r>
              <a:rPr lang="en-US" dirty="0" err="1"/>
              <a:t>FINNthesizer</a:t>
            </a:r>
            <a:r>
              <a:rPr lang="en-US" dirty="0"/>
              <a:t> script with the following command:</a:t>
            </a:r>
            <a:endParaRPr lang="en-US" dirty="0">
              <a:ea typeface="Calibri"/>
              <a:cs typeface="Calibri"/>
            </a:endParaRPr>
          </a:p>
          <a:p>
            <a:r>
              <a:rPr lang="en-US" dirty="0" err="1"/>
              <a:t>css</a:t>
            </a:r>
            <a:endParaRPr lang="en-US" dirty="0" err="1">
              <a:ea typeface="Calibri"/>
              <a:cs typeface="Calibri"/>
            </a:endParaRPr>
          </a:p>
          <a:p>
            <a:r>
              <a:rPr lang="en-US" dirty="0" err="1"/>
              <a:t>CopyEdit</a:t>
            </a:r>
            <a:endParaRPr lang="en-US" dirty="0" err="1">
              <a:ea typeface="Calibri"/>
              <a:cs typeface="Calibri"/>
            </a:endParaRPr>
          </a:p>
          <a:p>
            <a:r>
              <a:rPr lang="en-US" dirty="0"/>
              <a:t>python finnthesizer.py --network cnv --dataset lung_cancer
</a:t>
            </a:r>
            <a:endParaRPr lang="en-US" dirty="0">
              <a:ea typeface="Calibri"/>
              <a:cs typeface="Calibri"/>
            </a:endParaRPr>
          </a:p>
          <a:p>
            <a:r>
              <a:rPr lang="en-US" dirty="0"/>
              <a:t>This command took our .</a:t>
            </a:r>
            <a:r>
              <a:rPr lang="en-US" err="1"/>
              <a:t>npz</a:t>
            </a:r>
            <a:r>
              <a:rPr lang="en-US" dirty="0"/>
              <a:t> weights and generated all the necessary hardware-ready binary files, including configuration headers and quantized parameters. These files are essential for loading custom models into the CNV overlay on the PYNQ board.</a:t>
            </a:r>
            <a:endParaRPr lang="en-US" dirty="0">
              <a:ea typeface="Calibri"/>
              <a:cs typeface="Calibri"/>
            </a:endParaRPr>
          </a:p>
          <a:p>
            <a:r>
              <a:rPr lang="en-US"/>
              <a:t>“After successfully converting our trained model into binary format using FINNthesizer, we moved to the final and most crucial step of the hardware implementation: generating the FPGA bitstream. This step is required to configure the programmable logic on the PYNQ-Z1 board so that it can execute our custom-trained BNN model.</a:t>
            </a:r>
          </a:p>
          <a:p>
            <a:r>
              <a:rPr lang="en-US"/>
              <a:t>To perform this, the make-</a:t>
            </a:r>
            <a:r>
              <a:rPr lang="en-US" err="1"/>
              <a:t>hw</a:t>
            </a:r>
            <a:r>
              <a:rPr lang="en-US"/>
              <a:t> script provided by the BNN-PYNQ framework must call </a:t>
            </a:r>
            <a:r>
              <a:rPr lang="en-US" b="1" err="1"/>
              <a:t>Vivado</a:t>
            </a:r>
            <a:r>
              <a:rPr lang="en-US" b="1"/>
              <a:t> High-Level Synthesis</a:t>
            </a:r>
            <a:r>
              <a:rPr lang="en-US"/>
              <a:t>, also known as </a:t>
            </a:r>
            <a:r>
              <a:rPr lang="en-US" err="1"/>
              <a:t>Vivado</a:t>
            </a:r>
            <a:r>
              <a:rPr lang="en-US"/>
              <a:t> HLS. </a:t>
            </a:r>
            <a:r>
              <a:rPr lang="en-US" err="1"/>
              <a:t>Vivado</a:t>
            </a:r>
            <a:r>
              <a:rPr lang="en-US"/>
              <a:t> is the software tool from Xilinx that translates C++ or HLS-compatible models into synthesizable Verilog or VHDL and eventually into a bitstream (.bit file) that configures the FPGA hardware.</a:t>
            </a:r>
          </a:p>
          <a:p>
            <a:r>
              <a:rPr lang="en-US"/>
              <a:t>However, when we initially ran the hardware generation command:</a:t>
            </a:r>
          </a:p>
          <a:p>
            <a:r>
              <a:rPr lang="en-US" err="1"/>
              <a:t>css</a:t>
            </a:r>
            <a:endParaRPr lang="en-US" dirty="0" err="1">
              <a:ea typeface="Calibri"/>
              <a:cs typeface="Calibri"/>
            </a:endParaRPr>
          </a:p>
          <a:p>
            <a:r>
              <a:rPr lang="en-US" err="1"/>
              <a:t>CopyEdit</a:t>
            </a:r>
            <a:endParaRPr lang="en-US" dirty="0" err="1">
              <a:ea typeface="Calibri"/>
              <a:cs typeface="Calibri"/>
            </a:endParaRPr>
          </a:p>
          <a:p>
            <a:r>
              <a:rPr lang="en-US" dirty="0"/>
              <a:t>make-hw cnv-pynq pynqZ1-Z2 all
</a:t>
            </a:r>
            <a:endParaRPr lang="en-US" dirty="0">
              <a:ea typeface="Calibri"/>
              <a:cs typeface="Calibri"/>
            </a:endParaRPr>
          </a:p>
          <a:p>
            <a:r>
              <a:rPr lang="en-US"/>
              <a:t>we encountered an error related to Vivado itself. The installed version was incompatible with the BNN-PYNQ framework. BNN-PYNQ is specifically designed to work with </a:t>
            </a:r>
            <a:r>
              <a:rPr lang="en-US" b="1" err="1"/>
              <a:t>Vivado</a:t>
            </a:r>
            <a:r>
              <a:rPr lang="en-US" b="1"/>
              <a:t> 2018.2</a:t>
            </a:r>
            <a:r>
              <a:rPr lang="en-US"/>
              <a:t>, so I reinstalled that exact version and made sure </a:t>
            </a:r>
            <a:r>
              <a:rPr lang="en-US" err="1"/>
              <a:t>Vivado</a:t>
            </a:r>
            <a:r>
              <a:rPr lang="en-US"/>
              <a:t> HLS was correctly enabled and sourced in the environment.</a:t>
            </a:r>
          </a:p>
          <a:p>
            <a:r>
              <a:rPr lang="en-US"/>
              <a:t>Unfortunately, after resolving the version issue, we encountered another roadblock. The build process failed again—this time due to a </a:t>
            </a:r>
            <a:r>
              <a:rPr lang="en-US" b="1"/>
              <a:t>missing file: </a:t>
            </a:r>
            <a:r>
              <a:rPr lang="en-US" b="1" err="1"/>
              <a:t>library.h</a:t>
            </a:r>
            <a:r>
              <a:rPr lang="en-US"/>
              <a:t>. This file is a core dependency used in the hardware description and build pipeline. It contains essential function declarations and macros that are required for compiling the custom overlay logic. Without it, </a:t>
            </a:r>
            <a:r>
              <a:rPr lang="en-US" err="1"/>
              <a:t>Vivado</a:t>
            </a:r>
            <a:r>
              <a:rPr lang="en-US"/>
              <a:t> HLS cannot complete the synthesis step, and as a result, the bitstream cannot be generated.</a:t>
            </a:r>
          </a:p>
          <a:p>
            <a:r>
              <a:rPr lang="en-US"/>
              <a:t>In FPGA workflows, missing header files like </a:t>
            </a:r>
            <a:r>
              <a:rPr lang="en-US" err="1"/>
              <a:t>library.h</a:t>
            </a:r>
            <a:r>
              <a:rPr lang="en-US"/>
              <a:t> usually indicate an incomplete or corrupted repository, a misconfigured environment, or a failed dependency during installation. In our case, despite multiple attempts to locate or regenerate the file, we were unable to recover it. As a result, we could not complete the bitstream generation and were ultimately blocked from finalizing hardware deployment.</a:t>
            </a:r>
          </a:p>
          <a:p>
            <a:r>
              <a:rPr lang="en-US"/>
              <a:t>This was a major setback, but it revealed a lot about the fragility and strict requirements of FPGA-based toolchains. It also emphasized the importance of version control, complete dependency management, and toolchain compatibility when working in embedded AI development.”</a:t>
            </a: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24F9A8F-36A1-478B-BBFF-28226E305595}" type="slidenum">
              <a:t>9</a:t>
            </a:fld>
            <a:endParaRPr lang="en-US"/>
          </a:p>
        </p:txBody>
      </p:sp>
    </p:spTree>
    <p:extLst>
      <p:ext uri="{BB962C8B-B14F-4D97-AF65-F5344CB8AC3E}">
        <p14:creationId xmlns:p14="http://schemas.microsoft.com/office/powerpoint/2010/main" val="1700878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1.png"/><Relationship Id="rId7"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5822644" cy="10287000"/>
            <a:chOff x="0" y="0"/>
            <a:chExt cx="1533536" cy="2709333"/>
          </a:xfrm>
        </p:grpSpPr>
        <p:sp>
          <p:nvSpPr>
            <p:cNvPr id="3" name="Freeform 3"/>
            <p:cNvSpPr/>
            <p:nvPr/>
          </p:nvSpPr>
          <p:spPr>
            <a:xfrm>
              <a:off x="0" y="0"/>
              <a:ext cx="1533536" cy="2709333"/>
            </a:xfrm>
            <a:custGeom>
              <a:avLst/>
              <a:gdLst/>
              <a:ahLst/>
              <a:cxnLst/>
              <a:rect l="l" t="t" r="r" b="b"/>
              <a:pathLst>
                <a:path w="1533536" h="2709333">
                  <a:moveTo>
                    <a:pt x="0" y="0"/>
                  </a:moveTo>
                  <a:lnTo>
                    <a:pt x="1533536" y="0"/>
                  </a:lnTo>
                  <a:lnTo>
                    <a:pt x="1533536" y="2709333"/>
                  </a:lnTo>
                  <a:lnTo>
                    <a:pt x="0" y="2709333"/>
                  </a:lnTo>
                  <a:close/>
                </a:path>
              </a:pathLst>
            </a:custGeom>
            <a:solidFill>
              <a:srgbClr val="E0C8A6"/>
            </a:solidFill>
          </p:spPr>
        </p:sp>
        <p:sp>
          <p:nvSpPr>
            <p:cNvPr id="4" name="TextBox 4"/>
            <p:cNvSpPr txBox="1"/>
            <p:nvPr/>
          </p:nvSpPr>
          <p:spPr>
            <a:xfrm>
              <a:off x="0" y="-47625"/>
              <a:ext cx="1533536" cy="2756958"/>
            </a:xfrm>
            <a:prstGeom prst="rect">
              <a:avLst/>
            </a:prstGeom>
          </p:spPr>
          <p:txBody>
            <a:bodyPr lIns="50800" tIns="50800" rIns="50800" bIns="50800" rtlCol="0" anchor="ctr"/>
            <a:lstStyle/>
            <a:p>
              <a:pPr algn="ctr">
                <a:lnSpc>
                  <a:spcPts val="3500"/>
                </a:lnSpc>
              </a:pPr>
              <a:endParaRPr/>
            </a:p>
          </p:txBody>
        </p:sp>
      </p:grpSp>
      <p:sp>
        <p:nvSpPr>
          <p:cNvPr id="5" name="TextBox 5"/>
          <p:cNvSpPr txBox="1"/>
          <p:nvPr/>
        </p:nvSpPr>
        <p:spPr>
          <a:xfrm>
            <a:off x="7015213" y="486425"/>
            <a:ext cx="9725604" cy="3062591"/>
          </a:xfrm>
          <a:prstGeom prst="rect">
            <a:avLst/>
          </a:prstGeom>
        </p:spPr>
        <p:txBody>
          <a:bodyPr lIns="0" tIns="0" rIns="0" bIns="0" rtlCol="0" anchor="t">
            <a:spAutoFit/>
          </a:bodyPr>
          <a:lstStyle/>
          <a:p>
            <a:pPr algn="l">
              <a:lnSpc>
                <a:spcPts val="8120"/>
              </a:lnSpc>
            </a:pPr>
            <a:r>
              <a:rPr lang="en-US" sz="5800">
                <a:solidFill>
                  <a:srgbClr val="6B4815"/>
                </a:solidFill>
                <a:latin typeface="TT Moons"/>
                <a:ea typeface="TT Moons"/>
                <a:cs typeface="TT Moons"/>
                <a:sym typeface="TT Moons"/>
              </a:rPr>
              <a:t>🩺 Image Classification Using CNN: Software vs Hardware Comparison ( Lung Cancer data)</a:t>
            </a:r>
          </a:p>
        </p:txBody>
      </p:sp>
      <p:sp>
        <p:nvSpPr>
          <p:cNvPr id="6" name="TextBox 6"/>
          <p:cNvSpPr txBox="1"/>
          <p:nvPr/>
        </p:nvSpPr>
        <p:spPr>
          <a:xfrm>
            <a:off x="1028700" y="2099324"/>
            <a:ext cx="3951977" cy="622936"/>
          </a:xfrm>
          <a:prstGeom prst="rect">
            <a:avLst/>
          </a:prstGeom>
        </p:spPr>
        <p:txBody>
          <a:bodyPr lIns="0" tIns="0" rIns="0" bIns="0" rtlCol="0" anchor="t">
            <a:spAutoFit/>
          </a:bodyPr>
          <a:lstStyle/>
          <a:p>
            <a:pPr algn="l">
              <a:lnSpc>
                <a:spcPts val="5039"/>
              </a:lnSpc>
            </a:pPr>
            <a:r>
              <a:rPr lang="en-US" sz="3599" b="1">
                <a:solidFill>
                  <a:srgbClr val="6B4815"/>
                </a:solidFill>
                <a:latin typeface="Inter Bold"/>
                <a:ea typeface="Inter Bold"/>
                <a:cs typeface="Inter Bold"/>
                <a:sym typeface="Inter Bold"/>
              </a:rPr>
              <a:t>FPGA PROJECT </a:t>
            </a:r>
          </a:p>
        </p:txBody>
      </p:sp>
      <p:sp>
        <p:nvSpPr>
          <p:cNvPr id="7" name="TextBox 7"/>
          <p:cNvSpPr txBox="1"/>
          <p:nvPr/>
        </p:nvSpPr>
        <p:spPr>
          <a:xfrm>
            <a:off x="1028700" y="4756799"/>
            <a:ext cx="3951977" cy="422275"/>
          </a:xfrm>
          <a:prstGeom prst="rect">
            <a:avLst/>
          </a:prstGeom>
        </p:spPr>
        <p:txBody>
          <a:bodyPr lIns="0" tIns="0" rIns="0" bIns="0" rtlCol="0" anchor="t">
            <a:spAutoFit/>
          </a:bodyPr>
          <a:lstStyle/>
          <a:p>
            <a:pPr algn="l">
              <a:lnSpc>
                <a:spcPts val="3500"/>
              </a:lnSpc>
            </a:pPr>
            <a:r>
              <a:rPr lang="en-US" sz="2500">
                <a:solidFill>
                  <a:srgbClr val="6B4815"/>
                </a:solidFill>
                <a:latin typeface="Inter"/>
                <a:ea typeface="Inter"/>
                <a:cs typeface="Inter"/>
                <a:sym typeface="Inter"/>
              </a:rPr>
              <a:t>Prepared by</a:t>
            </a:r>
          </a:p>
        </p:txBody>
      </p:sp>
      <p:sp>
        <p:nvSpPr>
          <p:cNvPr id="8" name="TextBox 8"/>
          <p:cNvSpPr txBox="1"/>
          <p:nvPr/>
        </p:nvSpPr>
        <p:spPr>
          <a:xfrm>
            <a:off x="1028700" y="5294485"/>
            <a:ext cx="3951977" cy="976630"/>
          </a:xfrm>
          <a:prstGeom prst="rect">
            <a:avLst/>
          </a:prstGeom>
        </p:spPr>
        <p:txBody>
          <a:bodyPr lIns="0" tIns="0" rIns="0" bIns="0" rtlCol="0" anchor="t">
            <a:spAutoFit/>
          </a:bodyPr>
          <a:lstStyle/>
          <a:p>
            <a:pPr algn="l">
              <a:lnSpc>
                <a:spcPts val="3919"/>
              </a:lnSpc>
            </a:pPr>
            <a:r>
              <a:rPr lang="en-US" sz="2799" b="1">
                <a:solidFill>
                  <a:srgbClr val="6B4815"/>
                </a:solidFill>
                <a:latin typeface="Inter Bold"/>
                <a:ea typeface="Inter Bold"/>
                <a:cs typeface="Inter Bold"/>
                <a:sym typeface="Inter Bold"/>
              </a:rPr>
              <a:t>Jazzmin Poitier </a:t>
            </a:r>
          </a:p>
          <a:p>
            <a:pPr algn="l">
              <a:lnSpc>
                <a:spcPts val="3919"/>
              </a:lnSpc>
            </a:pPr>
            <a:r>
              <a:rPr lang="en-US" sz="2799" b="1">
                <a:solidFill>
                  <a:srgbClr val="6B4815"/>
                </a:solidFill>
                <a:latin typeface="Inter Bold"/>
                <a:ea typeface="Inter Bold"/>
                <a:cs typeface="Inter Bold"/>
                <a:sym typeface="Inter Bold"/>
              </a:rPr>
              <a:t>Maiva Ndjiakou</a:t>
            </a:r>
          </a:p>
        </p:txBody>
      </p:sp>
      <p:sp>
        <p:nvSpPr>
          <p:cNvPr id="9" name="TextBox 9"/>
          <p:cNvSpPr txBox="1"/>
          <p:nvPr/>
        </p:nvSpPr>
        <p:spPr>
          <a:xfrm>
            <a:off x="6335204" y="3925160"/>
            <a:ext cx="11085622" cy="4978659"/>
          </a:xfrm>
          <a:prstGeom prst="rect">
            <a:avLst/>
          </a:prstGeom>
        </p:spPr>
        <p:txBody>
          <a:bodyPr lIns="0" tIns="0" rIns="0" bIns="0" rtlCol="0" anchor="t">
            <a:spAutoFit/>
          </a:bodyPr>
          <a:lstStyle/>
          <a:p>
            <a:pPr algn="just">
              <a:lnSpc>
                <a:spcPts val="3334"/>
              </a:lnSpc>
            </a:pPr>
            <a:r>
              <a:rPr lang="en-US" sz="2382">
                <a:solidFill>
                  <a:srgbClr val="6B4815"/>
                </a:solidFill>
                <a:latin typeface="Inter"/>
                <a:ea typeface="Inter"/>
                <a:cs typeface="Inter"/>
                <a:sym typeface="Inter"/>
              </a:rPr>
              <a:t>Lung cancer remains one of the leading causes of cancer-related deaths worldwide. Early and accurate diagnosis is critical for improving patient survival rates. With the growing availability of CT scan data and advancements in machine learning, automated image classification systems have the potential to assist radiologists in identifying cancerous patterns more effectively.</a:t>
            </a:r>
          </a:p>
          <a:p>
            <a:pPr algn="just">
              <a:lnSpc>
                <a:spcPts val="3334"/>
              </a:lnSpc>
            </a:pPr>
            <a:r>
              <a:rPr lang="en-US" sz="2382">
                <a:solidFill>
                  <a:srgbClr val="6B4815"/>
                </a:solidFill>
                <a:latin typeface="Inter"/>
                <a:ea typeface="Inter"/>
                <a:cs typeface="Inter"/>
                <a:sym typeface="Inter"/>
              </a:rPr>
              <a:t>This project explores the development of an image classifier by comparing the classification performance of both software-based and hardware-accelerated implementations. The goal is to evaluate and apply the most effective method on a lung cancer dataset, focusing on accuracy, speed, and efficiency.</a:t>
            </a:r>
          </a:p>
          <a:p>
            <a:pPr algn="just">
              <a:lnSpc>
                <a:spcPts val="3334"/>
              </a:lnSpc>
            </a:pPr>
            <a:endParaRPr lang="en-US" sz="2382">
              <a:solidFill>
                <a:srgbClr val="6B4815"/>
              </a:solidFill>
              <a:latin typeface="Inter"/>
              <a:ea typeface="Inter"/>
              <a:cs typeface="Inter"/>
              <a:sym typeface="Inter"/>
            </a:endParaRPr>
          </a:p>
        </p:txBody>
      </p:sp>
      <p:sp>
        <p:nvSpPr>
          <p:cNvPr id="10" name="TextBox 10"/>
          <p:cNvSpPr txBox="1"/>
          <p:nvPr/>
        </p:nvSpPr>
        <p:spPr>
          <a:xfrm>
            <a:off x="17124090" y="890905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6B4815"/>
                </a:solidFill>
                <a:latin typeface="Inter"/>
                <a:ea typeface="Inter"/>
                <a:cs typeface="Inter"/>
                <a:sym typeface="Inter"/>
              </a:rPr>
              <a:t>1</a:t>
            </a:r>
          </a:p>
        </p:txBody>
      </p:sp>
      <p:sp>
        <p:nvSpPr>
          <p:cNvPr id="11" name="TextBox 11"/>
          <p:cNvSpPr txBox="1"/>
          <p:nvPr/>
        </p:nvSpPr>
        <p:spPr>
          <a:xfrm>
            <a:off x="330506" y="7262271"/>
            <a:ext cx="5161632" cy="422275"/>
          </a:xfrm>
          <a:prstGeom prst="rect">
            <a:avLst/>
          </a:prstGeom>
        </p:spPr>
        <p:txBody>
          <a:bodyPr lIns="0" tIns="0" rIns="0" bIns="0" rtlCol="0" anchor="t">
            <a:spAutoFit/>
          </a:bodyPr>
          <a:lstStyle/>
          <a:p>
            <a:pPr algn="ctr">
              <a:lnSpc>
                <a:spcPts val="3500"/>
              </a:lnSpc>
              <a:spcBef>
                <a:spcPct val="0"/>
              </a:spcBef>
            </a:pPr>
            <a:r>
              <a:rPr lang="en-US" sz="2500">
                <a:solidFill>
                  <a:srgbClr val="6B4815"/>
                </a:solidFill>
                <a:latin typeface="Inter"/>
                <a:ea typeface="Inter"/>
                <a:cs typeface="Inter"/>
                <a:sym typeface="Inter"/>
              </a:rPr>
              <a:t>Course: Advanced Digital Design </a:t>
            </a:r>
          </a:p>
        </p:txBody>
      </p:sp>
      <p:sp>
        <p:nvSpPr>
          <p:cNvPr id="12" name="TextBox 12"/>
          <p:cNvSpPr txBox="1"/>
          <p:nvPr/>
        </p:nvSpPr>
        <p:spPr>
          <a:xfrm>
            <a:off x="330506" y="7836946"/>
            <a:ext cx="5161632" cy="422275"/>
          </a:xfrm>
          <a:prstGeom prst="rect">
            <a:avLst/>
          </a:prstGeom>
        </p:spPr>
        <p:txBody>
          <a:bodyPr lIns="0" tIns="0" rIns="0" bIns="0" rtlCol="0" anchor="t">
            <a:spAutoFit/>
          </a:bodyPr>
          <a:lstStyle/>
          <a:p>
            <a:pPr algn="ctr">
              <a:lnSpc>
                <a:spcPts val="3500"/>
              </a:lnSpc>
              <a:spcBef>
                <a:spcPct val="0"/>
              </a:spcBef>
            </a:pPr>
            <a:r>
              <a:rPr lang="en-US" sz="2500">
                <a:solidFill>
                  <a:srgbClr val="6B4815"/>
                </a:solidFill>
                <a:latin typeface="Inter"/>
                <a:ea typeface="Inter"/>
                <a:cs typeface="Inter"/>
                <a:sym typeface="Inter"/>
              </a:rPr>
              <a:t>University of Virginia </a:t>
            </a:r>
          </a:p>
        </p:txBody>
      </p:sp>
      <p:sp>
        <p:nvSpPr>
          <p:cNvPr id="13" name="TextBox 13"/>
          <p:cNvSpPr txBox="1"/>
          <p:nvPr/>
        </p:nvSpPr>
        <p:spPr>
          <a:xfrm>
            <a:off x="330506" y="9477901"/>
            <a:ext cx="5161632" cy="422275"/>
          </a:xfrm>
          <a:prstGeom prst="rect">
            <a:avLst/>
          </a:prstGeom>
        </p:spPr>
        <p:txBody>
          <a:bodyPr lIns="0" tIns="0" rIns="0" bIns="0" rtlCol="0" anchor="t">
            <a:spAutoFit/>
          </a:bodyPr>
          <a:lstStyle/>
          <a:p>
            <a:pPr algn="ctr">
              <a:lnSpc>
                <a:spcPts val="3500"/>
              </a:lnSpc>
              <a:spcBef>
                <a:spcPct val="0"/>
              </a:spcBef>
            </a:pPr>
            <a:r>
              <a:rPr lang="en-US" sz="2500">
                <a:solidFill>
                  <a:srgbClr val="6B4815"/>
                </a:solidFill>
                <a:latin typeface="Inter"/>
                <a:ea typeface="Inter"/>
                <a:cs typeface="Inter"/>
                <a:sym typeface="Inter"/>
              </a:rPr>
              <a:t>May 2025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rot="-5400000">
            <a:off x="14745817" y="1854404"/>
            <a:ext cx="8325896" cy="4617088"/>
          </a:xfrm>
          <a:custGeom>
            <a:avLst/>
            <a:gdLst/>
            <a:ahLst/>
            <a:cxnLst/>
            <a:rect l="l" t="t" r="r" b="b"/>
            <a:pathLst>
              <a:path w="8325896" h="4617088">
                <a:moveTo>
                  <a:pt x="0" y="0"/>
                </a:moveTo>
                <a:lnTo>
                  <a:pt x="8325896" y="0"/>
                </a:lnTo>
                <a:lnTo>
                  <a:pt x="8325896" y="4617088"/>
                </a:lnTo>
                <a:lnTo>
                  <a:pt x="0" y="46170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0" y="9118376"/>
            <a:ext cx="18288000" cy="1168624"/>
            <a:chOff x="0" y="0"/>
            <a:chExt cx="4816593" cy="307786"/>
          </a:xfrm>
        </p:grpSpPr>
        <p:sp>
          <p:nvSpPr>
            <p:cNvPr id="4" name="Freeform 4"/>
            <p:cNvSpPr/>
            <p:nvPr/>
          </p:nvSpPr>
          <p:spPr>
            <a:xfrm>
              <a:off x="0" y="0"/>
              <a:ext cx="4816592" cy="307786"/>
            </a:xfrm>
            <a:custGeom>
              <a:avLst/>
              <a:gdLst/>
              <a:ahLst/>
              <a:cxnLst/>
              <a:rect l="l" t="t" r="r" b="b"/>
              <a:pathLst>
                <a:path w="4816592" h="307786">
                  <a:moveTo>
                    <a:pt x="0" y="0"/>
                  </a:moveTo>
                  <a:lnTo>
                    <a:pt x="4816592" y="0"/>
                  </a:lnTo>
                  <a:lnTo>
                    <a:pt x="4816592" y="307786"/>
                  </a:lnTo>
                  <a:lnTo>
                    <a:pt x="0" y="307786"/>
                  </a:lnTo>
                  <a:close/>
                </a:path>
              </a:pathLst>
            </a:custGeom>
            <a:solidFill>
              <a:srgbClr val="E0C8A6"/>
            </a:solidFill>
          </p:spPr>
        </p:sp>
        <p:sp>
          <p:nvSpPr>
            <p:cNvPr id="5" name="TextBox 5"/>
            <p:cNvSpPr txBox="1"/>
            <p:nvPr/>
          </p:nvSpPr>
          <p:spPr>
            <a:xfrm>
              <a:off x="0" y="-47625"/>
              <a:ext cx="4816593" cy="355411"/>
            </a:xfrm>
            <a:prstGeom prst="rect">
              <a:avLst/>
            </a:prstGeom>
          </p:spPr>
          <p:txBody>
            <a:bodyPr lIns="50800" tIns="50800" rIns="50800" bIns="50800" rtlCol="0" anchor="ctr"/>
            <a:lstStyle/>
            <a:p>
              <a:pPr algn="ctr">
                <a:lnSpc>
                  <a:spcPts val="3500"/>
                </a:lnSpc>
              </a:pPr>
              <a:endParaRPr/>
            </a:p>
          </p:txBody>
        </p:sp>
      </p:grpSp>
      <p:sp>
        <p:nvSpPr>
          <p:cNvPr id="6" name="TextBox 6"/>
          <p:cNvSpPr txBox="1"/>
          <p:nvPr/>
        </p:nvSpPr>
        <p:spPr>
          <a:xfrm>
            <a:off x="4281198" y="-30884"/>
            <a:ext cx="9725604" cy="1536061"/>
          </a:xfrm>
          <a:prstGeom prst="rect">
            <a:avLst/>
          </a:prstGeom>
        </p:spPr>
        <p:txBody>
          <a:bodyPr lIns="0" tIns="0" rIns="0" bIns="0" rtlCol="0" anchor="t">
            <a:spAutoFit/>
          </a:bodyPr>
          <a:lstStyle/>
          <a:p>
            <a:pPr algn="l">
              <a:lnSpc>
                <a:spcPts val="12460"/>
              </a:lnSpc>
            </a:pPr>
            <a:r>
              <a:rPr lang="en-US" sz="8900">
                <a:solidFill>
                  <a:srgbClr val="6B4815"/>
                </a:solidFill>
                <a:latin typeface="TT Moons"/>
                <a:ea typeface="TT Moons"/>
                <a:cs typeface="TT Moons"/>
                <a:sym typeface="TT Moons"/>
              </a:rPr>
              <a:t>Project goals </a:t>
            </a:r>
          </a:p>
        </p:txBody>
      </p:sp>
      <p:sp>
        <p:nvSpPr>
          <p:cNvPr id="7" name="TextBox 7"/>
          <p:cNvSpPr txBox="1"/>
          <p:nvPr/>
        </p:nvSpPr>
        <p:spPr>
          <a:xfrm>
            <a:off x="2923130" y="9618550"/>
            <a:ext cx="3951977" cy="422275"/>
          </a:xfrm>
          <a:prstGeom prst="rect">
            <a:avLst/>
          </a:prstGeom>
        </p:spPr>
        <p:txBody>
          <a:bodyPr lIns="0" tIns="0" rIns="0" bIns="0" rtlCol="0" anchor="t">
            <a:spAutoFit/>
          </a:bodyPr>
          <a:lstStyle/>
          <a:p>
            <a:pPr algn="l">
              <a:lnSpc>
                <a:spcPts val="3500"/>
              </a:lnSpc>
            </a:pPr>
            <a:r>
              <a:rPr lang="en-US" sz="2500">
                <a:solidFill>
                  <a:srgbClr val="6B4815"/>
                </a:solidFill>
                <a:latin typeface="Inter"/>
                <a:ea typeface="Inter"/>
                <a:cs typeface="Inter"/>
                <a:sym typeface="Inter"/>
              </a:rPr>
              <a:t>Prepared for</a:t>
            </a:r>
          </a:p>
        </p:txBody>
      </p:sp>
      <p:sp>
        <p:nvSpPr>
          <p:cNvPr id="8" name="TextBox 8"/>
          <p:cNvSpPr txBox="1"/>
          <p:nvPr/>
        </p:nvSpPr>
        <p:spPr>
          <a:xfrm>
            <a:off x="5192023" y="9655063"/>
            <a:ext cx="3951977" cy="422275"/>
          </a:xfrm>
          <a:prstGeom prst="rect">
            <a:avLst/>
          </a:prstGeom>
        </p:spPr>
        <p:txBody>
          <a:bodyPr lIns="0" tIns="0" rIns="0" bIns="0" rtlCol="0" anchor="t">
            <a:spAutoFit/>
          </a:bodyPr>
          <a:lstStyle/>
          <a:p>
            <a:pPr algn="l">
              <a:lnSpc>
                <a:spcPts val="3500"/>
              </a:lnSpc>
            </a:pPr>
            <a:r>
              <a:rPr lang="en-US" sz="2500" b="1">
                <a:solidFill>
                  <a:srgbClr val="6B4815"/>
                </a:solidFill>
                <a:latin typeface="Inter Bold"/>
                <a:ea typeface="Inter Bold"/>
                <a:cs typeface="Inter Bold"/>
                <a:sym typeface="Inter Bold"/>
              </a:rPr>
              <a:t>FPGA PROJECT </a:t>
            </a:r>
          </a:p>
        </p:txBody>
      </p:sp>
      <p:sp>
        <p:nvSpPr>
          <p:cNvPr id="9" name="TextBox 9"/>
          <p:cNvSpPr txBox="1"/>
          <p:nvPr/>
        </p:nvSpPr>
        <p:spPr>
          <a:xfrm>
            <a:off x="1829156" y="1677673"/>
            <a:ext cx="14371015" cy="7454285"/>
          </a:xfrm>
          <a:prstGeom prst="rect">
            <a:avLst/>
          </a:prstGeom>
        </p:spPr>
        <p:txBody>
          <a:bodyPr lIns="0" tIns="0" rIns="0" bIns="0" rtlCol="0" anchor="t">
            <a:spAutoFit/>
          </a:bodyPr>
          <a:lstStyle/>
          <a:p>
            <a:pPr algn="just">
              <a:lnSpc>
                <a:spcPts val="4479"/>
              </a:lnSpc>
            </a:pPr>
            <a:r>
              <a:rPr lang="en-US" sz="3150" dirty="0">
                <a:solidFill>
                  <a:srgbClr val="6B4815"/>
                </a:solidFill>
                <a:latin typeface="Inter"/>
                <a:ea typeface="Inter"/>
                <a:cs typeface="Inter"/>
                <a:sym typeface="Inter"/>
              </a:rPr>
              <a:t>Objectives</a:t>
            </a:r>
          </a:p>
          <a:p>
            <a:pPr marL="690245" lvl="1" indent="-344805" algn="just">
              <a:lnSpc>
                <a:spcPts val="4479"/>
              </a:lnSpc>
              <a:buFont typeface="Arial"/>
              <a:buChar char="•"/>
            </a:pPr>
            <a:r>
              <a:rPr lang="en-US" sz="3150" dirty="0">
                <a:solidFill>
                  <a:srgbClr val="6B4815"/>
                </a:solidFill>
                <a:latin typeface="Inter"/>
                <a:ea typeface="Inter"/>
                <a:cs typeface="Inter"/>
                <a:sym typeface="Inter"/>
              </a:rPr>
              <a:t>Train a CNN for binary classification of lung cancer (benign vs. malignant).</a:t>
            </a:r>
            <a:endParaRPr lang="en-US" sz="3150" dirty="0">
              <a:solidFill>
                <a:srgbClr val="6B4815"/>
              </a:solidFill>
              <a:latin typeface="Inter"/>
              <a:ea typeface="Inter"/>
              <a:cs typeface="Inter"/>
            </a:endParaRPr>
          </a:p>
          <a:p>
            <a:pPr marL="690245" lvl="1" indent="-344805" algn="just">
              <a:lnSpc>
                <a:spcPts val="4479"/>
              </a:lnSpc>
              <a:buFont typeface="Arial"/>
              <a:buChar char="•"/>
            </a:pPr>
            <a:r>
              <a:rPr lang="en-US" sz="3150" dirty="0">
                <a:solidFill>
                  <a:srgbClr val="6B4815"/>
                </a:solidFill>
                <a:latin typeface="Inter"/>
                <a:ea typeface="Inter"/>
                <a:cs typeface="Inter"/>
                <a:sym typeface="Inter"/>
              </a:rPr>
              <a:t>Compare classification speed and accuracy on CPU vs. FPGA.</a:t>
            </a:r>
            <a:endParaRPr lang="en-US" sz="3150" dirty="0">
              <a:solidFill>
                <a:srgbClr val="6B4815"/>
              </a:solidFill>
              <a:latin typeface="Inter"/>
              <a:ea typeface="Inter"/>
              <a:cs typeface="Inter"/>
            </a:endParaRPr>
          </a:p>
          <a:p>
            <a:pPr marL="690245" lvl="1" indent="-344805" algn="just">
              <a:lnSpc>
                <a:spcPts val="4479"/>
              </a:lnSpc>
              <a:buFont typeface="Arial"/>
              <a:buChar char="•"/>
            </a:pPr>
            <a:r>
              <a:rPr lang="en-US" sz="3150" dirty="0">
                <a:solidFill>
                  <a:srgbClr val="6B4815"/>
                </a:solidFill>
                <a:latin typeface="Inter"/>
                <a:ea typeface="Inter"/>
                <a:cs typeface="Inter"/>
                <a:sym typeface="Inter"/>
              </a:rPr>
              <a:t>Evaluate FPGA resource usage and performance bottlenecks.</a:t>
            </a:r>
            <a:endParaRPr lang="en-US" sz="3150" dirty="0">
              <a:solidFill>
                <a:srgbClr val="6B4815"/>
              </a:solidFill>
              <a:latin typeface="Inter"/>
              <a:ea typeface="Inter"/>
              <a:cs typeface="Inter"/>
            </a:endParaRPr>
          </a:p>
          <a:p>
            <a:pPr algn="just">
              <a:lnSpc>
                <a:spcPts val="4479"/>
              </a:lnSpc>
            </a:pPr>
            <a:r>
              <a:rPr lang="en-US" sz="3150" dirty="0">
                <a:solidFill>
                  <a:srgbClr val="6B4815"/>
                </a:solidFill>
                <a:latin typeface="Inter"/>
                <a:ea typeface="Inter"/>
                <a:cs typeface="Inter"/>
                <a:sym typeface="Inter"/>
              </a:rPr>
              <a:t>Requirement Analysis</a:t>
            </a:r>
            <a:endParaRPr lang="en-US" sz="3150" dirty="0">
              <a:solidFill>
                <a:srgbClr val="6B4815"/>
              </a:solidFill>
              <a:latin typeface="Inter"/>
              <a:ea typeface="Inter"/>
              <a:cs typeface="Inter"/>
            </a:endParaRPr>
          </a:p>
          <a:p>
            <a:pPr marL="690245" lvl="1" indent="-344805" algn="just">
              <a:lnSpc>
                <a:spcPts val="4479"/>
              </a:lnSpc>
              <a:buFont typeface="Arial"/>
              <a:buChar char="•"/>
            </a:pPr>
            <a:r>
              <a:rPr lang="en-US" sz="3150" dirty="0">
                <a:solidFill>
                  <a:srgbClr val="6B4815"/>
                </a:solidFill>
                <a:latin typeface="Inter"/>
                <a:ea typeface="Inter"/>
                <a:cs typeface="Inter"/>
                <a:sym typeface="Inter"/>
              </a:rPr>
              <a:t>Dataset: Kaggle lung cancer CT image dataset.</a:t>
            </a:r>
            <a:endParaRPr lang="en-US" sz="3150" dirty="0">
              <a:solidFill>
                <a:srgbClr val="6B4815"/>
              </a:solidFill>
              <a:latin typeface="Inter"/>
              <a:ea typeface="Inter"/>
              <a:cs typeface="Inter"/>
            </a:endParaRPr>
          </a:p>
          <a:p>
            <a:pPr marL="690245" lvl="1" indent="-344805" algn="just">
              <a:lnSpc>
                <a:spcPts val="4479"/>
              </a:lnSpc>
              <a:buFont typeface="Arial"/>
              <a:buChar char="•"/>
            </a:pPr>
            <a:r>
              <a:rPr lang="en-US" sz="3150" dirty="0">
                <a:solidFill>
                  <a:srgbClr val="6B4815"/>
                </a:solidFill>
                <a:latin typeface="Inter"/>
                <a:ea typeface="Inter"/>
                <a:cs typeface="Inter"/>
                <a:sym typeface="Inter"/>
              </a:rPr>
              <a:t>Software Stack: </a:t>
            </a:r>
            <a:r>
              <a:rPr lang="en-US" sz="3150" dirty="0" err="1">
                <a:solidFill>
                  <a:srgbClr val="6B4815"/>
                </a:solidFill>
                <a:latin typeface="Inter"/>
                <a:ea typeface="Inter"/>
                <a:cs typeface="Inter"/>
                <a:sym typeface="Inter"/>
              </a:rPr>
              <a:t>PyTorch</a:t>
            </a:r>
            <a:r>
              <a:rPr lang="en-US" sz="3150" dirty="0">
                <a:solidFill>
                  <a:srgbClr val="6B4815"/>
                </a:solidFill>
                <a:latin typeface="Inter"/>
                <a:ea typeface="Inter"/>
                <a:cs typeface="Inter"/>
                <a:sym typeface="Inter"/>
              </a:rPr>
              <a:t>, NumPy, OpenCV, Python 327 (for training).</a:t>
            </a:r>
            <a:endParaRPr lang="en-US" sz="3150" dirty="0">
              <a:solidFill>
                <a:srgbClr val="6B4815"/>
              </a:solidFill>
              <a:latin typeface="Inter"/>
              <a:ea typeface="Inter"/>
              <a:cs typeface="Inter"/>
            </a:endParaRPr>
          </a:p>
          <a:p>
            <a:pPr marL="690245" lvl="1" indent="-344805" algn="just">
              <a:lnSpc>
                <a:spcPts val="4479"/>
              </a:lnSpc>
              <a:buFont typeface="Arial"/>
              <a:buChar char="•"/>
            </a:pPr>
            <a:r>
              <a:rPr lang="en-US" sz="3150" dirty="0">
                <a:solidFill>
                  <a:srgbClr val="6B4815"/>
                </a:solidFill>
                <a:latin typeface="Inter"/>
                <a:ea typeface="Inter"/>
                <a:cs typeface="Inter"/>
                <a:sym typeface="Inter"/>
              </a:rPr>
              <a:t>Hardware Platform: PYNQ-Z1 FPGA board.</a:t>
            </a:r>
            <a:endParaRPr lang="en-US" sz="3150" dirty="0">
              <a:solidFill>
                <a:srgbClr val="6B4815"/>
              </a:solidFill>
              <a:latin typeface="Inter"/>
              <a:ea typeface="Inter"/>
              <a:cs typeface="Inter"/>
            </a:endParaRPr>
          </a:p>
          <a:p>
            <a:pPr marL="690245" lvl="1" indent="-344805" algn="just">
              <a:lnSpc>
                <a:spcPts val="4479"/>
              </a:lnSpc>
              <a:buFont typeface="Arial"/>
              <a:buChar char="•"/>
            </a:pPr>
            <a:r>
              <a:rPr lang="en-US" sz="3150" dirty="0">
                <a:solidFill>
                  <a:srgbClr val="6B4815"/>
                </a:solidFill>
                <a:latin typeface="Inter"/>
                <a:ea typeface="Inter"/>
                <a:cs typeface="Inter"/>
                <a:sym typeface="Inter"/>
              </a:rPr>
              <a:t>BNN Framework: BNN-PYNQ (for feature extraction &amp; acceleration).</a:t>
            </a:r>
            <a:endParaRPr lang="en-US" sz="3150" dirty="0">
              <a:solidFill>
                <a:srgbClr val="6B4815"/>
              </a:solidFill>
              <a:latin typeface="Inter"/>
              <a:ea typeface="Inter"/>
              <a:cs typeface="Inter"/>
            </a:endParaRPr>
          </a:p>
          <a:p>
            <a:pPr marL="690245" lvl="1" indent="-344805" algn="just">
              <a:lnSpc>
                <a:spcPts val="4479"/>
              </a:lnSpc>
              <a:buFont typeface="Arial"/>
              <a:buChar char="•"/>
            </a:pPr>
            <a:r>
              <a:rPr lang="en-US" sz="3150" dirty="0">
                <a:solidFill>
                  <a:srgbClr val="6B4815"/>
                </a:solidFill>
                <a:latin typeface="Inter"/>
                <a:ea typeface="Inter"/>
                <a:cs typeface="Inter"/>
                <a:sym typeface="Inter"/>
              </a:rPr>
              <a:t>Time Constraints: Limited project timeframe necessitated using existing frameworks instead of full custom RTL.</a:t>
            </a:r>
            <a:endParaRPr lang="en-US" sz="3150" dirty="0">
              <a:solidFill>
                <a:srgbClr val="6B4815"/>
              </a:solidFill>
              <a:latin typeface="Inter"/>
              <a:ea typeface="Inter"/>
              <a:cs typeface="Inter"/>
            </a:endParaRPr>
          </a:p>
          <a:p>
            <a:pPr algn="just">
              <a:lnSpc>
                <a:spcPts val="4479"/>
              </a:lnSpc>
            </a:pPr>
            <a:endParaRPr lang="en-US" sz="3199">
              <a:solidFill>
                <a:srgbClr val="6B4815"/>
              </a:solidFill>
              <a:latin typeface="Inter"/>
              <a:ea typeface="Inter"/>
              <a:cs typeface="Inter"/>
              <a:sym typeface="Inter"/>
            </a:endParaRPr>
          </a:p>
        </p:txBody>
      </p:sp>
      <p:sp>
        <p:nvSpPr>
          <p:cNvPr id="10" name="TextBox 10"/>
          <p:cNvSpPr txBox="1"/>
          <p:nvPr/>
        </p:nvSpPr>
        <p:spPr>
          <a:xfrm>
            <a:off x="17182445" y="965506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6B4815"/>
                </a:solidFill>
                <a:latin typeface="Inter"/>
                <a:ea typeface="Inter"/>
                <a:cs typeface="Inter"/>
                <a:sym typeface="Inter"/>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rot="-5400000">
            <a:off x="15697277" y="1992027"/>
            <a:ext cx="8325896" cy="4617088"/>
          </a:xfrm>
          <a:custGeom>
            <a:avLst/>
            <a:gdLst/>
            <a:ahLst/>
            <a:cxnLst/>
            <a:rect l="l" t="t" r="r" b="b"/>
            <a:pathLst>
              <a:path w="8325896" h="4617088">
                <a:moveTo>
                  <a:pt x="0" y="0"/>
                </a:moveTo>
                <a:lnTo>
                  <a:pt x="8325896" y="0"/>
                </a:lnTo>
                <a:lnTo>
                  <a:pt x="8325896" y="4617088"/>
                </a:lnTo>
                <a:lnTo>
                  <a:pt x="0" y="46170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Box 3"/>
          <p:cNvSpPr txBox="1"/>
          <p:nvPr/>
        </p:nvSpPr>
        <p:spPr>
          <a:xfrm>
            <a:off x="1394816" y="23323"/>
            <a:ext cx="14064197" cy="929625"/>
          </a:xfrm>
          <a:prstGeom prst="rect">
            <a:avLst/>
          </a:prstGeom>
        </p:spPr>
        <p:txBody>
          <a:bodyPr lIns="0" tIns="0" rIns="0" bIns="0" rtlCol="0" anchor="t">
            <a:spAutoFit/>
          </a:bodyPr>
          <a:lstStyle/>
          <a:p>
            <a:pPr algn="ctr">
              <a:lnSpc>
                <a:spcPts val="7560"/>
              </a:lnSpc>
            </a:pPr>
            <a:r>
              <a:rPr lang="en-US" sz="5400">
                <a:solidFill>
                  <a:srgbClr val="6B4815"/>
                </a:solidFill>
                <a:latin typeface="TT Moons"/>
                <a:ea typeface="TT Moons"/>
                <a:cs typeface="TT Moons"/>
                <a:sym typeface="TT Moons"/>
              </a:rPr>
              <a:t>System Design &amp; Design Exploration Path</a:t>
            </a:r>
          </a:p>
        </p:txBody>
      </p:sp>
      <p:sp>
        <p:nvSpPr>
          <p:cNvPr id="4" name="TextBox 4"/>
          <p:cNvSpPr txBox="1"/>
          <p:nvPr/>
        </p:nvSpPr>
        <p:spPr>
          <a:xfrm>
            <a:off x="17124090" y="890905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6B4815"/>
                </a:solidFill>
                <a:latin typeface="Inter"/>
                <a:ea typeface="Inter"/>
                <a:cs typeface="Inter"/>
                <a:sym typeface="Inter"/>
              </a:rPr>
              <a:t>3</a:t>
            </a:r>
          </a:p>
        </p:txBody>
      </p:sp>
      <p:sp>
        <p:nvSpPr>
          <p:cNvPr id="6" name="TextBox 6"/>
          <p:cNvSpPr txBox="1"/>
          <p:nvPr/>
        </p:nvSpPr>
        <p:spPr>
          <a:xfrm>
            <a:off x="228244" y="7066204"/>
            <a:ext cx="12618125" cy="2603725"/>
          </a:xfrm>
          <a:prstGeom prst="rect">
            <a:avLst/>
          </a:prstGeom>
        </p:spPr>
        <p:txBody>
          <a:bodyPr lIns="0" tIns="0" rIns="0" bIns="0" rtlCol="0" anchor="t">
            <a:spAutoFit/>
          </a:bodyPr>
          <a:lstStyle/>
          <a:p>
            <a:pPr algn="just">
              <a:lnSpc>
                <a:spcPts val="3487"/>
              </a:lnSpc>
            </a:pPr>
            <a:r>
              <a:rPr lang="en-US" sz="2491">
                <a:solidFill>
                  <a:srgbClr val="6B4815"/>
                </a:solidFill>
                <a:latin typeface="Inter"/>
                <a:ea typeface="Inter"/>
                <a:cs typeface="Inter"/>
                <a:sym typeface="Inter"/>
              </a:rPr>
              <a:t>Why BNN-PYNQ?</a:t>
            </a:r>
          </a:p>
          <a:p>
            <a:pPr marL="537836" lvl="1" indent="-268918" algn="just">
              <a:lnSpc>
                <a:spcPts val="3487"/>
              </a:lnSpc>
              <a:buFont typeface="Arial"/>
              <a:buChar char="•"/>
            </a:pPr>
            <a:r>
              <a:rPr lang="en-US" sz="2491">
                <a:solidFill>
                  <a:srgbClr val="6B4815"/>
                </a:solidFill>
                <a:latin typeface="Inter"/>
                <a:ea typeface="Inter"/>
                <a:cs typeface="Inter"/>
                <a:sym typeface="Inter"/>
              </a:rPr>
              <a:t>Already integrated with PYNQ board</a:t>
            </a:r>
          </a:p>
          <a:p>
            <a:pPr marL="537836" lvl="1" indent="-268918" algn="just">
              <a:lnSpc>
                <a:spcPts val="3487"/>
              </a:lnSpc>
              <a:buFont typeface="Arial"/>
              <a:buChar char="•"/>
            </a:pPr>
            <a:r>
              <a:rPr lang="en-US" sz="2491">
                <a:solidFill>
                  <a:srgbClr val="6B4815"/>
                </a:solidFill>
                <a:latin typeface="Inter"/>
                <a:ea typeface="Inter"/>
                <a:cs typeface="Inter"/>
                <a:sym typeface="Inter"/>
              </a:rPr>
              <a:t>Offers ready-made overlays for CNN (CNV) and Fully Connected Networks (LFC)</a:t>
            </a:r>
          </a:p>
          <a:p>
            <a:pPr marL="537836" lvl="1" indent="-268918" algn="just">
              <a:lnSpc>
                <a:spcPts val="3487"/>
              </a:lnSpc>
              <a:buFont typeface="Arial"/>
              <a:buChar char="•"/>
            </a:pPr>
            <a:r>
              <a:rPr lang="en-US" sz="2491">
                <a:solidFill>
                  <a:srgbClr val="6B4815"/>
                </a:solidFill>
                <a:latin typeface="Inter"/>
                <a:ea typeface="Inter"/>
                <a:cs typeface="Inter"/>
                <a:sym typeface="Inter"/>
              </a:rPr>
              <a:t>Supports parameter loading and feature extraction using Python</a:t>
            </a:r>
          </a:p>
          <a:p>
            <a:pPr marL="537836" lvl="1" indent="-268918" algn="just">
              <a:lnSpc>
                <a:spcPts val="3487"/>
              </a:lnSpc>
              <a:buFont typeface="Arial"/>
              <a:buChar char="•"/>
            </a:pPr>
            <a:r>
              <a:rPr lang="en-US" sz="2491">
                <a:solidFill>
                  <a:srgbClr val="6B4815"/>
                </a:solidFill>
                <a:latin typeface="Inter"/>
                <a:ea typeface="Inter"/>
                <a:cs typeface="Inter"/>
                <a:sym typeface="Inter"/>
              </a:rPr>
              <a:t>Avoids the need for HDL programming</a:t>
            </a:r>
          </a:p>
          <a:p>
            <a:pPr marL="537836" lvl="1" indent="-268918" algn="just">
              <a:lnSpc>
                <a:spcPts val="3487"/>
              </a:lnSpc>
              <a:buFont typeface="Arial"/>
              <a:buChar char="•"/>
            </a:pPr>
            <a:r>
              <a:rPr lang="en-US" sz="2491">
                <a:solidFill>
                  <a:srgbClr val="6B4815"/>
                </a:solidFill>
                <a:latin typeface="Inter"/>
                <a:ea typeface="Inter"/>
                <a:cs typeface="Inter"/>
                <a:sym typeface="Inter"/>
              </a:rPr>
              <a:t>Enables us to focus on training + deployment + performance measurement</a:t>
            </a:r>
          </a:p>
        </p:txBody>
      </p:sp>
      <p:graphicFrame>
        <p:nvGraphicFramePr>
          <p:cNvPr id="8" name="Table 7">
            <a:extLst>
              <a:ext uri="{FF2B5EF4-FFF2-40B4-BE49-F238E27FC236}">
                <a16:creationId xmlns:a16="http://schemas.microsoft.com/office/drawing/2014/main" id="{13AA9FA1-B21C-F9B0-77A6-5D5805410989}"/>
              </a:ext>
            </a:extLst>
          </p:cNvPr>
          <p:cNvGraphicFramePr>
            <a:graphicFrameLocks noGrp="1"/>
          </p:cNvGraphicFramePr>
          <p:nvPr>
            <p:extLst>
              <p:ext uri="{D42A27DB-BD31-4B8C-83A1-F6EECF244321}">
                <p14:modId xmlns:p14="http://schemas.microsoft.com/office/powerpoint/2010/main" val="3653439442"/>
              </p:ext>
            </p:extLst>
          </p:nvPr>
        </p:nvGraphicFramePr>
        <p:xfrm>
          <a:off x="0" y="1800225"/>
          <a:ext cx="17662905" cy="4439915"/>
        </p:xfrm>
        <a:graphic>
          <a:graphicData uri="http://schemas.openxmlformats.org/drawingml/2006/table">
            <a:tbl>
              <a:tblPr bandRow="1">
                <a:tableStyleId>{5C22544A-7EE6-4342-B048-85BDC9FD1C3A}</a:tableStyleId>
              </a:tblPr>
              <a:tblGrid>
                <a:gridCol w="5887635">
                  <a:extLst>
                    <a:ext uri="{9D8B030D-6E8A-4147-A177-3AD203B41FA5}">
                      <a16:colId xmlns:a16="http://schemas.microsoft.com/office/drawing/2014/main" val="2620324664"/>
                    </a:ext>
                  </a:extLst>
                </a:gridCol>
                <a:gridCol w="5887635">
                  <a:extLst>
                    <a:ext uri="{9D8B030D-6E8A-4147-A177-3AD203B41FA5}">
                      <a16:colId xmlns:a16="http://schemas.microsoft.com/office/drawing/2014/main" val="4236097186"/>
                    </a:ext>
                  </a:extLst>
                </a:gridCol>
                <a:gridCol w="5887635">
                  <a:extLst>
                    <a:ext uri="{9D8B030D-6E8A-4147-A177-3AD203B41FA5}">
                      <a16:colId xmlns:a16="http://schemas.microsoft.com/office/drawing/2014/main" val="3892796379"/>
                    </a:ext>
                  </a:extLst>
                </a:gridCol>
              </a:tblGrid>
              <a:tr h="710387">
                <a:tc>
                  <a:txBody>
                    <a:bodyPr/>
                    <a:lstStyle/>
                    <a:p>
                      <a:r>
                        <a:rPr lang="en-US"/>
                        <a:t>Approach</a:t>
                      </a:r>
                    </a:p>
                  </a:txBody>
                  <a:tcPr anchor="ctr">
                    <a:lnL>
                      <a:noFill/>
                    </a:lnL>
                    <a:lnR>
                      <a:noFill/>
                    </a:lnR>
                    <a:lnT>
                      <a:noFill/>
                    </a:lnT>
                    <a:lnB>
                      <a:noFill/>
                    </a:lnB>
                    <a:noFill/>
                  </a:tcPr>
                </a:tc>
                <a:tc>
                  <a:txBody>
                    <a:bodyPr/>
                    <a:lstStyle/>
                    <a:p>
                      <a:r>
                        <a:rPr lang="en-US"/>
                        <a:t>Description</a:t>
                      </a:r>
                    </a:p>
                  </a:txBody>
                  <a:tcPr anchor="ctr">
                    <a:lnL>
                      <a:noFill/>
                    </a:lnL>
                    <a:lnR>
                      <a:noFill/>
                    </a:lnR>
                    <a:lnT>
                      <a:noFill/>
                    </a:lnT>
                    <a:lnB>
                      <a:noFill/>
                    </a:lnB>
                    <a:noFill/>
                  </a:tcPr>
                </a:tc>
                <a:tc>
                  <a:txBody>
                    <a:bodyPr/>
                    <a:lstStyle/>
                    <a:p>
                      <a:r>
                        <a:rPr lang="en-US"/>
                        <a:t>Outcome</a:t>
                      </a:r>
                    </a:p>
                  </a:txBody>
                  <a:tcPr anchor="ctr">
                    <a:lnL>
                      <a:noFill/>
                    </a:lnL>
                    <a:lnR>
                      <a:noFill/>
                    </a:lnR>
                    <a:lnT>
                      <a:noFill/>
                    </a:lnT>
                    <a:lnB>
                      <a:noFill/>
                    </a:lnB>
                    <a:noFill/>
                  </a:tcPr>
                </a:tc>
                <a:extLst>
                  <a:ext uri="{0D108BD9-81ED-4DB2-BD59-A6C34878D82A}">
                    <a16:rowId xmlns:a16="http://schemas.microsoft.com/office/drawing/2014/main" val="3458775359"/>
                  </a:ext>
                </a:extLst>
              </a:tr>
              <a:tr h="1243176">
                <a:tc>
                  <a:txBody>
                    <a:bodyPr/>
                    <a:lstStyle/>
                    <a:p>
                      <a:r>
                        <a:rPr lang="en-US" b="1"/>
                        <a:t>Custom Verilog Design</a:t>
                      </a:r>
                      <a:endParaRPr lang="en-US"/>
                    </a:p>
                  </a:txBody>
                  <a:tcPr anchor="ctr">
                    <a:lnL>
                      <a:noFill/>
                    </a:lnL>
                    <a:lnR>
                      <a:noFill/>
                    </a:lnR>
                    <a:lnT>
                      <a:noFill/>
                    </a:lnT>
                    <a:lnB>
                      <a:noFill/>
                    </a:lnB>
                    <a:noFill/>
                  </a:tcPr>
                </a:tc>
                <a:tc>
                  <a:txBody>
                    <a:bodyPr/>
                    <a:lstStyle/>
                    <a:p>
                      <a:r>
                        <a:rPr lang="en-US"/>
                        <a:t>Initially considered implementing the CNN from scratch in Verilog/VHDL</a:t>
                      </a:r>
                    </a:p>
                  </a:txBody>
                  <a:tcPr anchor="ctr">
                    <a:lnL>
                      <a:noFill/>
                    </a:lnL>
                    <a:lnR>
                      <a:noFill/>
                    </a:lnR>
                    <a:lnT>
                      <a:noFill/>
                    </a:lnT>
                    <a:lnB>
                      <a:noFill/>
                    </a:lnB>
                    <a:noFill/>
                  </a:tcPr>
                </a:tc>
                <a:tc>
                  <a:txBody>
                    <a:bodyPr/>
                    <a:lstStyle/>
                    <a:p>
                      <a:r>
                        <a:rPr lang="en-US"/>
                        <a:t>Rejected due to time constraints and complexity</a:t>
                      </a:r>
                    </a:p>
                  </a:txBody>
                  <a:tcPr anchor="ctr">
                    <a:lnL>
                      <a:noFill/>
                    </a:lnL>
                    <a:lnR>
                      <a:noFill/>
                    </a:lnR>
                    <a:lnT>
                      <a:noFill/>
                    </a:lnT>
                    <a:lnB>
                      <a:noFill/>
                    </a:lnB>
                    <a:noFill/>
                  </a:tcPr>
                </a:tc>
                <a:extLst>
                  <a:ext uri="{0D108BD9-81ED-4DB2-BD59-A6C34878D82A}">
                    <a16:rowId xmlns:a16="http://schemas.microsoft.com/office/drawing/2014/main" val="2616175753"/>
                  </a:ext>
                </a:extLst>
              </a:tr>
              <a:tr h="1243176">
                <a:tc>
                  <a:txBody>
                    <a:bodyPr/>
                    <a:lstStyle/>
                    <a:p>
                      <a:r>
                        <a:rPr lang="en-US" b="1"/>
                        <a:t>DNNWeaver 2.0</a:t>
                      </a:r>
                      <a:endParaRPr lang="en-US"/>
                    </a:p>
                  </a:txBody>
                  <a:tcPr anchor="ctr">
                    <a:lnL>
                      <a:noFill/>
                    </a:lnL>
                    <a:lnR>
                      <a:noFill/>
                    </a:lnR>
                    <a:lnT>
                      <a:noFill/>
                    </a:lnT>
                    <a:lnB>
                      <a:noFill/>
                    </a:lnB>
                    <a:noFill/>
                  </a:tcPr>
                </a:tc>
                <a:tc>
                  <a:txBody>
                    <a:bodyPr/>
                    <a:lstStyle/>
                    <a:p>
                      <a:r>
                        <a:rPr lang="en-US"/>
                        <a:t>Tried using the DNNWeaver framework to automatically generate Verilog from a trained model</a:t>
                      </a:r>
                    </a:p>
                  </a:txBody>
                  <a:tcPr anchor="ctr">
                    <a:lnL>
                      <a:noFill/>
                    </a:lnL>
                    <a:lnR>
                      <a:noFill/>
                    </a:lnR>
                    <a:lnT>
                      <a:noFill/>
                    </a:lnT>
                    <a:lnB>
                      <a:noFill/>
                    </a:lnB>
                    <a:noFill/>
                  </a:tcPr>
                </a:tc>
                <a:tc>
                  <a:txBody>
                    <a:bodyPr/>
                    <a:lstStyle/>
                    <a:p>
                      <a:r>
                        <a:rPr lang="en-US"/>
                        <a:t>Faced issues with Python environment compatibility and insufficient documentation</a:t>
                      </a:r>
                    </a:p>
                  </a:txBody>
                  <a:tcPr anchor="ctr">
                    <a:lnL>
                      <a:noFill/>
                    </a:lnL>
                    <a:lnR>
                      <a:noFill/>
                    </a:lnR>
                    <a:lnT>
                      <a:noFill/>
                    </a:lnT>
                    <a:lnB>
                      <a:noFill/>
                    </a:lnB>
                    <a:noFill/>
                  </a:tcPr>
                </a:tc>
                <a:extLst>
                  <a:ext uri="{0D108BD9-81ED-4DB2-BD59-A6C34878D82A}">
                    <a16:rowId xmlns:a16="http://schemas.microsoft.com/office/drawing/2014/main" val="913327772"/>
                  </a:ext>
                </a:extLst>
              </a:tr>
              <a:tr h="1243176">
                <a:tc>
                  <a:txBody>
                    <a:bodyPr/>
                    <a:lstStyle/>
                    <a:p>
                      <a:r>
                        <a:rPr lang="en-US" b="1"/>
                        <a:t>BNN-PYNQ</a:t>
                      </a:r>
                      <a:r>
                        <a:rPr lang="en-US"/>
                        <a:t> </a:t>
                      </a:r>
                      <a:r>
                        <a:rPr lang="en-US" i="1"/>
                        <a:t>(Final Choice)</a:t>
                      </a:r>
                      <a:endParaRPr lang="en-US"/>
                    </a:p>
                  </a:txBody>
                  <a:tcPr anchor="ctr">
                    <a:lnL>
                      <a:noFill/>
                    </a:lnL>
                    <a:lnR>
                      <a:noFill/>
                    </a:lnR>
                    <a:lnT>
                      <a:noFill/>
                    </a:lnT>
                    <a:lnB>
                      <a:noFill/>
                    </a:lnB>
                    <a:noFill/>
                  </a:tcPr>
                </a:tc>
                <a:tc>
                  <a:txBody>
                    <a:bodyPr/>
                    <a:lstStyle/>
                    <a:p>
                      <a:r>
                        <a:rPr lang="en-US"/>
                        <a:t>Binary Neural Network overlays available for PYNQ-Z1 using Python &amp; Jupyter</a:t>
                      </a:r>
                    </a:p>
                  </a:txBody>
                  <a:tcPr anchor="ctr">
                    <a:lnL>
                      <a:noFill/>
                    </a:lnL>
                    <a:lnR>
                      <a:noFill/>
                    </a:lnR>
                    <a:lnT>
                      <a:noFill/>
                    </a:lnT>
                    <a:lnB>
                      <a:noFill/>
                    </a:lnB>
                    <a:noFill/>
                  </a:tcPr>
                </a:tc>
                <a:tc>
                  <a:txBody>
                    <a:bodyPr/>
                    <a:lstStyle/>
                    <a:p>
                      <a:r>
                        <a:rPr lang="en-US"/>
                        <a:t>Chosen for rapid development, working overlays, and simplified hardware interfacing</a:t>
                      </a:r>
                    </a:p>
                  </a:txBody>
                  <a:tcPr anchor="ctr">
                    <a:lnL>
                      <a:noFill/>
                    </a:lnL>
                    <a:lnR>
                      <a:noFill/>
                    </a:lnR>
                    <a:lnT>
                      <a:noFill/>
                    </a:lnT>
                    <a:lnB>
                      <a:noFill/>
                    </a:lnB>
                    <a:noFill/>
                  </a:tcPr>
                </a:tc>
                <a:extLst>
                  <a:ext uri="{0D108BD9-81ED-4DB2-BD59-A6C34878D82A}">
                    <a16:rowId xmlns:a16="http://schemas.microsoft.com/office/drawing/2014/main" val="195844346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rot="-5400000">
            <a:off x="15735317" y="1801818"/>
            <a:ext cx="8325896" cy="4617088"/>
          </a:xfrm>
          <a:custGeom>
            <a:avLst/>
            <a:gdLst/>
            <a:ahLst/>
            <a:cxnLst/>
            <a:rect l="l" t="t" r="r" b="b"/>
            <a:pathLst>
              <a:path w="8325896" h="4617088">
                <a:moveTo>
                  <a:pt x="0" y="0"/>
                </a:moveTo>
                <a:lnTo>
                  <a:pt x="8325896" y="0"/>
                </a:lnTo>
                <a:lnTo>
                  <a:pt x="8325896" y="4617088"/>
                </a:lnTo>
                <a:lnTo>
                  <a:pt x="0" y="46170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93214" y="5953518"/>
            <a:ext cx="8371173" cy="3153970"/>
          </a:xfrm>
          <a:custGeom>
            <a:avLst/>
            <a:gdLst/>
            <a:ahLst/>
            <a:cxnLst/>
            <a:rect l="l" t="t" r="r" b="b"/>
            <a:pathLst>
              <a:path w="8371173" h="3153970">
                <a:moveTo>
                  <a:pt x="0" y="0"/>
                </a:moveTo>
                <a:lnTo>
                  <a:pt x="8371173" y="0"/>
                </a:lnTo>
                <a:lnTo>
                  <a:pt x="8371173" y="3153970"/>
                </a:lnTo>
                <a:lnTo>
                  <a:pt x="0" y="3153970"/>
                </a:lnTo>
                <a:lnTo>
                  <a:pt x="0" y="0"/>
                </a:lnTo>
                <a:close/>
              </a:path>
            </a:pathLst>
          </a:custGeom>
          <a:blipFill>
            <a:blip r:embed="rId5"/>
            <a:stretch>
              <a:fillRect t="-97" b="-97"/>
            </a:stretch>
          </a:blipFill>
        </p:spPr>
      </p:sp>
      <p:sp>
        <p:nvSpPr>
          <p:cNvPr id="4" name="Freeform 4"/>
          <p:cNvSpPr/>
          <p:nvPr/>
        </p:nvSpPr>
        <p:spPr>
          <a:xfrm>
            <a:off x="8764068" y="6187810"/>
            <a:ext cx="9207211" cy="3194339"/>
          </a:xfrm>
          <a:custGeom>
            <a:avLst/>
            <a:gdLst/>
            <a:ahLst/>
            <a:cxnLst/>
            <a:rect l="l" t="t" r="r" b="b"/>
            <a:pathLst>
              <a:path w="9207211" h="3194339">
                <a:moveTo>
                  <a:pt x="0" y="0"/>
                </a:moveTo>
                <a:lnTo>
                  <a:pt x="9207212" y="0"/>
                </a:lnTo>
                <a:lnTo>
                  <a:pt x="9207212" y="3194338"/>
                </a:lnTo>
                <a:lnTo>
                  <a:pt x="0" y="3194338"/>
                </a:lnTo>
                <a:lnTo>
                  <a:pt x="0" y="0"/>
                </a:lnTo>
                <a:close/>
              </a:path>
            </a:pathLst>
          </a:custGeom>
          <a:blipFill>
            <a:blip r:embed="rId6"/>
            <a:stretch>
              <a:fillRect/>
            </a:stretch>
          </a:blipFill>
        </p:spPr>
      </p:sp>
      <p:sp>
        <p:nvSpPr>
          <p:cNvPr id="5" name="TextBox 5"/>
          <p:cNvSpPr txBox="1"/>
          <p:nvPr/>
        </p:nvSpPr>
        <p:spPr>
          <a:xfrm>
            <a:off x="17124090" y="890905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6B4815"/>
                </a:solidFill>
                <a:latin typeface="Inter"/>
                <a:ea typeface="Inter"/>
                <a:cs typeface="Inter"/>
                <a:sym typeface="Inter"/>
              </a:rPr>
              <a:t>4</a:t>
            </a:r>
          </a:p>
        </p:txBody>
      </p:sp>
      <p:sp>
        <p:nvSpPr>
          <p:cNvPr id="6" name="TextBox 6"/>
          <p:cNvSpPr txBox="1"/>
          <p:nvPr/>
        </p:nvSpPr>
        <p:spPr>
          <a:xfrm>
            <a:off x="25256" y="189230"/>
            <a:ext cx="17151310" cy="1817370"/>
          </a:xfrm>
          <a:prstGeom prst="rect">
            <a:avLst/>
          </a:prstGeom>
        </p:spPr>
        <p:txBody>
          <a:bodyPr lIns="0" tIns="0" rIns="0" bIns="0" rtlCol="0" anchor="t">
            <a:spAutoFit/>
          </a:bodyPr>
          <a:lstStyle/>
          <a:p>
            <a:pPr algn="ctr">
              <a:lnSpc>
                <a:spcPts val="4059"/>
              </a:lnSpc>
              <a:spcBef>
                <a:spcPct val="0"/>
              </a:spcBef>
            </a:pPr>
            <a:r>
              <a:rPr lang="en-US" sz="2899" b="1">
                <a:solidFill>
                  <a:srgbClr val="6B4815"/>
                </a:solidFill>
                <a:latin typeface="Inter Bold"/>
                <a:ea typeface="Inter Bold"/>
                <a:cs typeface="Inter Bold"/>
                <a:sym typeface="Inter Bold"/>
              </a:rPr>
              <a:t>Architecture Selection and Data Preparation</a:t>
            </a:r>
          </a:p>
          <a:p>
            <a:pPr algn="l">
              <a:lnSpc>
                <a:spcPts val="3500"/>
              </a:lnSpc>
              <a:spcBef>
                <a:spcPct val="0"/>
              </a:spcBef>
            </a:pPr>
            <a:r>
              <a:rPr lang="en-US" sz="2500">
                <a:solidFill>
                  <a:srgbClr val="6B4815"/>
                </a:solidFill>
                <a:latin typeface="Inter"/>
                <a:ea typeface="Inter"/>
                <a:cs typeface="Inter"/>
                <a:sym typeface="Inter"/>
              </a:rPr>
              <a:t>Objective:</a:t>
            </a:r>
          </a:p>
          <a:p>
            <a:pPr marL="539751" lvl="1" indent="-269876" algn="l">
              <a:lnSpc>
                <a:spcPts val="3500"/>
              </a:lnSpc>
              <a:buFont typeface="Arial"/>
              <a:buChar char="•"/>
            </a:pPr>
            <a:r>
              <a:rPr lang="en-US" sz="2500">
                <a:solidFill>
                  <a:srgbClr val="6B4815"/>
                </a:solidFill>
                <a:latin typeface="Inter"/>
                <a:ea typeface="Inter"/>
                <a:cs typeface="Inter"/>
                <a:sym typeface="Inter"/>
              </a:rPr>
              <a:t>Verify and compare performance of pre-existing BNN models on the PYNQ-Z1 board</a:t>
            </a:r>
          </a:p>
          <a:p>
            <a:pPr marL="539751" lvl="1" indent="-269876" algn="l">
              <a:lnSpc>
                <a:spcPts val="3500"/>
              </a:lnSpc>
              <a:buFont typeface="Arial"/>
              <a:buChar char="•"/>
            </a:pPr>
            <a:r>
              <a:rPr lang="en-US" sz="2500">
                <a:solidFill>
                  <a:srgbClr val="6B4815"/>
                </a:solidFill>
                <a:latin typeface="Inter"/>
                <a:ea typeface="Inter"/>
                <a:cs typeface="Inter"/>
                <a:sym typeface="Inter"/>
              </a:rPr>
              <a:t>Evaluate software vs. hardware classification based on accuracy, processing time, and input data compatibility</a:t>
            </a:r>
          </a:p>
        </p:txBody>
      </p:sp>
      <p:sp>
        <p:nvSpPr>
          <p:cNvPr id="7" name="TextBox 7"/>
          <p:cNvSpPr txBox="1"/>
          <p:nvPr/>
        </p:nvSpPr>
        <p:spPr>
          <a:xfrm>
            <a:off x="93214" y="2530475"/>
            <a:ext cx="13759578" cy="2613025"/>
          </a:xfrm>
          <a:prstGeom prst="rect">
            <a:avLst/>
          </a:prstGeom>
        </p:spPr>
        <p:txBody>
          <a:bodyPr lIns="0" tIns="0" rIns="0" bIns="0" rtlCol="0" anchor="t">
            <a:spAutoFit/>
          </a:bodyPr>
          <a:lstStyle/>
          <a:p>
            <a:pPr algn="l">
              <a:lnSpc>
                <a:spcPts val="3500"/>
              </a:lnSpc>
              <a:spcBef>
                <a:spcPct val="0"/>
              </a:spcBef>
            </a:pPr>
            <a:r>
              <a:rPr lang="en-US" sz="2500">
                <a:solidFill>
                  <a:srgbClr val="6B4815"/>
                </a:solidFill>
                <a:latin typeface="Inter"/>
                <a:ea typeface="Inter"/>
                <a:cs typeface="Inter"/>
                <a:sym typeface="Inter"/>
              </a:rPr>
              <a:t>Procedure:</a:t>
            </a:r>
          </a:p>
          <a:p>
            <a:pPr marL="539751" lvl="1" indent="-269876" algn="l">
              <a:lnSpc>
                <a:spcPts val="3500"/>
              </a:lnSpc>
              <a:buFont typeface="Arial"/>
              <a:buChar char="•"/>
            </a:pPr>
            <a:r>
              <a:rPr lang="en-US" sz="2500">
                <a:solidFill>
                  <a:srgbClr val="6B4815"/>
                </a:solidFill>
                <a:latin typeface="Inter"/>
                <a:ea typeface="Inter"/>
                <a:cs typeface="Inter"/>
                <a:sym typeface="Inter"/>
              </a:rPr>
              <a:t>Cloned the BNN-PYNQ GitHub repository</a:t>
            </a:r>
          </a:p>
          <a:p>
            <a:pPr algn="l">
              <a:lnSpc>
                <a:spcPts val="3500"/>
              </a:lnSpc>
            </a:pPr>
            <a:r>
              <a:rPr lang="en-US" sz="2500">
                <a:solidFill>
                  <a:srgbClr val="6B4815"/>
                </a:solidFill>
                <a:latin typeface="Inter"/>
                <a:ea typeface="Inter"/>
                <a:cs typeface="Inter"/>
                <a:sym typeface="Inter"/>
              </a:rPr>
              <a:t>In this directory you will see several notebooks. These notebooks use one of two overlays</a:t>
            </a:r>
          </a:p>
          <a:p>
            <a:pPr algn="l">
              <a:lnSpc>
                <a:spcPts val="3500"/>
              </a:lnSpc>
            </a:pPr>
            <a:r>
              <a:rPr lang="en-US" sz="2500" b="1">
                <a:solidFill>
                  <a:srgbClr val="6B4815"/>
                </a:solidFill>
                <a:latin typeface="Inter Bold"/>
                <a:ea typeface="Inter Bold"/>
                <a:cs typeface="Inter Bold"/>
                <a:sym typeface="Inter Bold"/>
              </a:rPr>
              <a:t>LFC </a:t>
            </a:r>
            <a:r>
              <a:rPr lang="en-US" sz="2500">
                <a:solidFill>
                  <a:srgbClr val="6B4815"/>
                </a:solidFill>
                <a:latin typeface="Inter"/>
                <a:ea typeface="Inter"/>
                <a:cs typeface="Inter"/>
                <a:sym typeface="Inter"/>
              </a:rPr>
              <a:t>- Fully Connected network designed for black and white operations on a 28 by 28 input</a:t>
            </a:r>
          </a:p>
          <a:p>
            <a:pPr algn="l">
              <a:lnSpc>
                <a:spcPts val="3500"/>
              </a:lnSpc>
            </a:pPr>
            <a:r>
              <a:rPr lang="en-US" sz="2500" b="1">
                <a:solidFill>
                  <a:srgbClr val="6B4815"/>
                </a:solidFill>
                <a:latin typeface="Inter Bold"/>
                <a:ea typeface="Inter Bold"/>
                <a:cs typeface="Inter Bold"/>
                <a:sym typeface="Inter Bold"/>
              </a:rPr>
              <a:t>CNV</a:t>
            </a:r>
            <a:r>
              <a:rPr lang="en-US" sz="2500">
                <a:solidFill>
                  <a:srgbClr val="6B4815"/>
                </a:solidFill>
                <a:latin typeface="Inter"/>
                <a:ea typeface="Inter"/>
                <a:cs typeface="Inter"/>
                <a:sym typeface="Inter"/>
              </a:rPr>
              <a:t> - Convolution network designed for RGB operations 32 by 32 input</a:t>
            </a:r>
          </a:p>
          <a:p>
            <a:pPr algn="l">
              <a:lnSpc>
                <a:spcPts val="3500"/>
              </a:lnSpc>
            </a:pPr>
            <a:r>
              <a:rPr lang="en-US" sz="2500">
                <a:solidFill>
                  <a:srgbClr val="6B4815"/>
                </a:solidFill>
                <a:latin typeface="Inter"/>
                <a:ea typeface="Inter"/>
                <a:cs typeface="Inter"/>
                <a:sym typeface="Inter"/>
              </a:rPr>
              <a:t>The structures of both can be seen below.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rot="-5400000">
            <a:off x="15941061" y="1854404"/>
            <a:ext cx="8325896" cy="4617088"/>
          </a:xfrm>
          <a:custGeom>
            <a:avLst/>
            <a:gdLst/>
            <a:ahLst/>
            <a:cxnLst/>
            <a:rect l="l" t="t" r="r" b="b"/>
            <a:pathLst>
              <a:path w="8325896" h="4617088">
                <a:moveTo>
                  <a:pt x="0" y="0"/>
                </a:moveTo>
                <a:lnTo>
                  <a:pt x="8325896" y="0"/>
                </a:lnTo>
                <a:lnTo>
                  <a:pt x="8325896" y="4617088"/>
                </a:lnTo>
                <a:lnTo>
                  <a:pt x="0" y="46170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0" y="1879970"/>
            <a:ext cx="7403108" cy="3932901"/>
          </a:xfrm>
          <a:custGeom>
            <a:avLst/>
            <a:gdLst/>
            <a:ahLst/>
            <a:cxnLst/>
            <a:rect l="l" t="t" r="r" b="b"/>
            <a:pathLst>
              <a:path w="7403108" h="3932901">
                <a:moveTo>
                  <a:pt x="0" y="0"/>
                </a:moveTo>
                <a:lnTo>
                  <a:pt x="7403108" y="0"/>
                </a:lnTo>
                <a:lnTo>
                  <a:pt x="7403108" y="3932902"/>
                </a:lnTo>
                <a:lnTo>
                  <a:pt x="0" y="3932902"/>
                </a:lnTo>
                <a:lnTo>
                  <a:pt x="0" y="0"/>
                </a:lnTo>
                <a:close/>
              </a:path>
            </a:pathLst>
          </a:custGeom>
          <a:blipFill>
            <a:blip r:embed="rId5"/>
            <a:stretch>
              <a:fillRect/>
            </a:stretch>
          </a:blipFill>
        </p:spPr>
      </p:sp>
      <p:sp>
        <p:nvSpPr>
          <p:cNvPr id="4" name="Freeform 4"/>
          <p:cNvSpPr/>
          <p:nvPr/>
        </p:nvSpPr>
        <p:spPr>
          <a:xfrm>
            <a:off x="0" y="5829105"/>
            <a:ext cx="7403108" cy="3840504"/>
          </a:xfrm>
          <a:custGeom>
            <a:avLst/>
            <a:gdLst/>
            <a:ahLst/>
            <a:cxnLst/>
            <a:rect l="l" t="t" r="r" b="b"/>
            <a:pathLst>
              <a:path w="7403108" h="3840504">
                <a:moveTo>
                  <a:pt x="0" y="0"/>
                </a:moveTo>
                <a:lnTo>
                  <a:pt x="7403108" y="0"/>
                </a:lnTo>
                <a:lnTo>
                  <a:pt x="7403108" y="3840505"/>
                </a:lnTo>
                <a:lnTo>
                  <a:pt x="0" y="3840505"/>
                </a:lnTo>
                <a:lnTo>
                  <a:pt x="0" y="0"/>
                </a:lnTo>
                <a:close/>
              </a:path>
            </a:pathLst>
          </a:custGeom>
          <a:blipFill>
            <a:blip r:embed="rId6"/>
            <a:stretch>
              <a:fillRect t="-10255" b="-10255"/>
            </a:stretch>
          </a:blipFill>
        </p:spPr>
      </p:sp>
      <p:sp>
        <p:nvSpPr>
          <p:cNvPr id="5" name="Freeform 5"/>
          <p:cNvSpPr/>
          <p:nvPr/>
        </p:nvSpPr>
        <p:spPr>
          <a:xfrm rot="5400000">
            <a:off x="11968767" y="1071009"/>
            <a:ext cx="3644286" cy="4859048"/>
          </a:xfrm>
          <a:custGeom>
            <a:avLst/>
            <a:gdLst/>
            <a:ahLst/>
            <a:cxnLst/>
            <a:rect l="l" t="t" r="r" b="b"/>
            <a:pathLst>
              <a:path w="3644286" h="4859048">
                <a:moveTo>
                  <a:pt x="0" y="0"/>
                </a:moveTo>
                <a:lnTo>
                  <a:pt x="3644286" y="0"/>
                </a:lnTo>
                <a:lnTo>
                  <a:pt x="3644286" y="4859048"/>
                </a:lnTo>
                <a:lnTo>
                  <a:pt x="0" y="4859048"/>
                </a:lnTo>
                <a:lnTo>
                  <a:pt x="0" y="0"/>
                </a:lnTo>
                <a:close/>
              </a:path>
            </a:pathLst>
          </a:custGeom>
          <a:blipFill>
            <a:blip r:embed="rId7"/>
            <a:stretch>
              <a:fillRect/>
            </a:stretch>
          </a:blipFill>
        </p:spPr>
      </p:sp>
      <p:sp>
        <p:nvSpPr>
          <p:cNvPr id="6" name="TextBox 6"/>
          <p:cNvSpPr txBox="1"/>
          <p:nvPr/>
        </p:nvSpPr>
        <p:spPr>
          <a:xfrm>
            <a:off x="17124090" y="890905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6B4815"/>
                </a:solidFill>
                <a:latin typeface="Inter"/>
                <a:ea typeface="Inter"/>
                <a:cs typeface="Inter"/>
                <a:sym typeface="Inter"/>
              </a:rPr>
              <a:t>5</a:t>
            </a:r>
          </a:p>
        </p:txBody>
      </p:sp>
      <p:sp>
        <p:nvSpPr>
          <p:cNvPr id="7" name="TextBox 7"/>
          <p:cNvSpPr txBox="1"/>
          <p:nvPr/>
        </p:nvSpPr>
        <p:spPr>
          <a:xfrm>
            <a:off x="-68311" y="817965"/>
            <a:ext cx="7923626" cy="1298575"/>
          </a:xfrm>
          <a:prstGeom prst="rect">
            <a:avLst/>
          </a:prstGeom>
        </p:spPr>
        <p:txBody>
          <a:bodyPr lIns="0" tIns="0" rIns="0" bIns="0" rtlCol="0" anchor="t">
            <a:spAutoFit/>
          </a:bodyPr>
          <a:lstStyle/>
          <a:p>
            <a:pPr marL="539751" lvl="1" indent="-269876" algn="l">
              <a:lnSpc>
                <a:spcPts val="3500"/>
              </a:lnSpc>
              <a:buFont typeface="Arial"/>
              <a:buChar char="•"/>
            </a:pPr>
            <a:r>
              <a:rPr lang="en-US" sz="2500">
                <a:solidFill>
                  <a:srgbClr val="6B4815"/>
                </a:solidFill>
                <a:latin typeface="Inter"/>
                <a:ea typeface="Inter"/>
                <a:cs typeface="Inter"/>
                <a:sym typeface="Inter"/>
              </a:rPr>
              <a:t>Installed PYNQ v2.5 image on the board’s SD card( </a:t>
            </a:r>
          </a:p>
          <a:p>
            <a:pPr algn="l">
              <a:lnSpc>
                <a:spcPts val="3500"/>
              </a:lnSpc>
            </a:pPr>
            <a:endParaRPr lang="en-US" sz="2500">
              <a:solidFill>
                <a:srgbClr val="6B4815"/>
              </a:solidFill>
              <a:latin typeface="Inter"/>
              <a:ea typeface="Inter"/>
              <a:cs typeface="Inter"/>
              <a:sym typeface="Inter"/>
            </a:endParaRPr>
          </a:p>
        </p:txBody>
      </p:sp>
      <p:sp>
        <p:nvSpPr>
          <p:cNvPr id="8" name="TextBox 8"/>
          <p:cNvSpPr txBox="1"/>
          <p:nvPr/>
        </p:nvSpPr>
        <p:spPr>
          <a:xfrm>
            <a:off x="5001348" y="-1090"/>
            <a:ext cx="8782169" cy="517257"/>
          </a:xfrm>
          <a:prstGeom prst="rect">
            <a:avLst/>
          </a:prstGeom>
        </p:spPr>
        <p:txBody>
          <a:bodyPr lIns="0" tIns="0" rIns="0" bIns="0" rtlCol="0" anchor="t">
            <a:spAutoFit/>
          </a:bodyPr>
          <a:lstStyle/>
          <a:p>
            <a:pPr algn="ctr">
              <a:lnSpc>
                <a:spcPts val="4479"/>
              </a:lnSpc>
              <a:spcBef>
                <a:spcPct val="0"/>
              </a:spcBef>
            </a:pPr>
            <a:r>
              <a:rPr lang="en-US" sz="2400" b="1" dirty="0">
                <a:solidFill>
                  <a:srgbClr val="6B4815"/>
                </a:solidFill>
                <a:latin typeface="Inter Bold"/>
                <a:ea typeface="Inter Bold"/>
                <a:cs typeface="Inter Bold"/>
                <a:sym typeface="Inter Bold"/>
              </a:rPr>
              <a:t>Archi</a:t>
            </a:r>
            <a:r>
              <a:rPr lang="en-US" sz="2800" b="1" dirty="0">
                <a:solidFill>
                  <a:srgbClr val="6B4815"/>
                </a:solidFill>
                <a:latin typeface="Inter Bold"/>
                <a:ea typeface="Inter Bold"/>
                <a:cs typeface="Inter Bold"/>
                <a:sym typeface="Inter Bold"/>
              </a:rPr>
              <a:t>t</a:t>
            </a:r>
            <a:r>
              <a:rPr lang="en-US" sz="2400" b="1" dirty="0">
                <a:solidFill>
                  <a:srgbClr val="6B4815"/>
                </a:solidFill>
                <a:latin typeface="Inter Bold"/>
                <a:ea typeface="Inter Bold"/>
                <a:cs typeface="Inter Bold"/>
                <a:sym typeface="Inter Bold"/>
              </a:rPr>
              <a:t>ecture Selection and Data Preparation</a:t>
            </a:r>
          </a:p>
        </p:txBody>
      </p:sp>
      <p:sp>
        <p:nvSpPr>
          <p:cNvPr id="9" name="TextBox 9"/>
          <p:cNvSpPr txBox="1"/>
          <p:nvPr/>
        </p:nvSpPr>
        <p:spPr>
          <a:xfrm>
            <a:off x="7669030" y="817965"/>
            <a:ext cx="10126436" cy="860425"/>
          </a:xfrm>
          <a:prstGeom prst="rect">
            <a:avLst/>
          </a:prstGeom>
        </p:spPr>
        <p:txBody>
          <a:bodyPr lIns="0" tIns="0" rIns="0" bIns="0" rtlCol="0" anchor="t">
            <a:spAutoFit/>
          </a:bodyPr>
          <a:lstStyle/>
          <a:p>
            <a:pPr marL="539751" lvl="1" indent="-269876" algn="l">
              <a:lnSpc>
                <a:spcPts val="3500"/>
              </a:lnSpc>
              <a:buFont typeface="Arial"/>
              <a:buChar char="•"/>
            </a:pPr>
            <a:r>
              <a:rPr lang="en-US" sz="2500">
                <a:solidFill>
                  <a:srgbClr val="6B4815"/>
                </a:solidFill>
                <a:latin typeface="Inter"/>
                <a:ea typeface="Inter"/>
                <a:cs typeface="Inter"/>
                <a:sym typeface="Inter"/>
              </a:rPr>
              <a:t>Connected the board to PC, retrieved IP address, and accessed the Jupyter interface</a:t>
            </a:r>
          </a:p>
        </p:txBody>
      </p:sp>
      <p:sp>
        <p:nvSpPr>
          <p:cNvPr id="10" name="Freeform 10"/>
          <p:cNvSpPr/>
          <p:nvPr/>
        </p:nvSpPr>
        <p:spPr>
          <a:xfrm>
            <a:off x="10500995" y="5433036"/>
            <a:ext cx="7787005" cy="4632643"/>
          </a:xfrm>
          <a:custGeom>
            <a:avLst/>
            <a:gdLst/>
            <a:ahLst/>
            <a:cxnLst/>
            <a:rect l="l" t="t" r="r" b="b"/>
            <a:pathLst>
              <a:path w="7787005" h="4632643">
                <a:moveTo>
                  <a:pt x="0" y="0"/>
                </a:moveTo>
                <a:lnTo>
                  <a:pt x="7787005" y="0"/>
                </a:lnTo>
                <a:lnTo>
                  <a:pt x="7787005" y="4632643"/>
                </a:lnTo>
                <a:lnTo>
                  <a:pt x="0" y="4632643"/>
                </a:lnTo>
                <a:lnTo>
                  <a:pt x="0" y="0"/>
                </a:lnTo>
                <a:close/>
              </a:path>
            </a:pathLst>
          </a:custGeom>
          <a:blipFill>
            <a:blip r:embed="rId8"/>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rot="-5400000">
            <a:off x="15348922" y="1854404"/>
            <a:ext cx="8325896" cy="4617088"/>
          </a:xfrm>
          <a:custGeom>
            <a:avLst/>
            <a:gdLst/>
            <a:ahLst/>
            <a:cxnLst/>
            <a:rect l="l" t="t" r="r" b="b"/>
            <a:pathLst>
              <a:path w="8325896" h="4617088">
                <a:moveTo>
                  <a:pt x="0" y="0"/>
                </a:moveTo>
                <a:lnTo>
                  <a:pt x="8325895" y="0"/>
                </a:lnTo>
                <a:lnTo>
                  <a:pt x="8325895" y="4617088"/>
                </a:lnTo>
                <a:lnTo>
                  <a:pt x="0" y="46170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228244" y="2385604"/>
            <a:ext cx="7663477" cy="5108984"/>
          </a:xfrm>
          <a:custGeom>
            <a:avLst/>
            <a:gdLst/>
            <a:ahLst/>
            <a:cxnLst/>
            <a:rect l="l" t="t" r="r" b="b"/>
            <a:pathLst>
              <a:path w="7663477" h="5108984">
                <a:moveTo>
                  <a:pt x="0" y="0"/>
                </a:moveTo>
                <a:lnTo>
                  <a:pt x="7663476" y="0"/>
                </a:lnTo>
                <a:lnTo>
                  <a:pt x="7663476" y="5108984"/>
                </a:lnTo>
                <a:lnTo>
                  <a:pt x="0" y="5108984"/>
                </a:lnTo>
                <a:lnTo>
                  <a:pt x="0" y="0"/>
                </a:lnTo>
                <a:close/>
              </a:path>
            </a:pathLst>
          </a:custGeom>
          <a:blipFill>
            <a:blip r:embed="rId5"/>
            <a:stretch>
              <a:fillRect/>
            </a:stretch>
          </a:blipFill>
        </p:spPr>
      </p:sp>
      <p:sp>
        <p:nvSpPr>
          <p:cNvPr id="4" name="Freeform 4"/>
          <p:cNvSpPr/>
          <p:nvPr/>
        </p:nvSpPr>
        <p:spPr>
          <a:xfrm>
            <a:off x="9381138" y="2315550"/>
            <a:ext cx="7663477" cy="5108984"/>
          </a:xfrm>
          <a:custGeom>
            <a:avLst/>
            <a:gdLst/>
            <a:ahLst/>
            <a:cxnLst/>
            <a:rect l="l" t="t" r="r" b="b"/>
            <a:pathLst>
              <a:path w="7663477" h="5108984">
                <a:moveTo>
                  <a:pt x="0" y="0"/>
                </a:moveTo>
                <a:lnTo>
                  <a:pt x="7663476" y="0"/>
                </a:lnTo>
                <a:lnTo>
                  <a:pt x="7663476" y="5108984"/>
                </a:lnTo>
                <a:lnTo>
                  <a:pt x="0" y="5108984"/>
                </a:lnTo>
                <a:lnTo>
                  <a:pt x="0" y="0"/>
                </a:lnTo>
                <a:close/>
              </a:path>
            </a:pathLst>
          </a:custGeom>
          <a:blipFill>
            <a:blip r:embed="rId6"/>
            <a:stretch>
              <a:fillRect/>
            </a:stretch>
          </a:blipFill>
        </p:spPr>
      </p:sp>
      <p:sp>
        <p:nvSpPr>
          <p:cNvPr id="5" name="TextBox 5"/>
          <p:cNvSpPr txBox="1"/>
          <p:nvPr/>
        </p:nvSpPr>
        <p:spPr>
          <a:xfrm>
            <a:off x="17124090" y="890905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6B4815"/>
                </a:solidFill>
                <a:latin typeface="Inter"/>
                <a:ea typeface="Inter"/>
                <a:cs typeface="Inter"/>
                <a:sym typeface="Inter"/>
              </a:rPr>
              <a:t>6</a:t>
            </a:r>
          </a:p>
        </p:txBody>
      </p:sp>
      <p:sp>
        <p:nvSpPr>
          <p:cNvPr id="6" name="TextBox 6"/>
          <p:cNvSpPr txBox="1"/>
          <p:nvPr/>
        </p:nvSpPr>
        <p:spPr>
          <a:xfrm>
            <a:off x="474275" y="883625"/>
            <a:ext cx="17813725" cy="1309718"/>
          </a:xfrm>
          <a:prstGeom prst="rect">
            <a:avLst/>
          </a:prstGeom>
        </p:spPr>
        <p:txBody>
          <a:bodyPr lIns="0" tIns="0" rIns="0" bIns="0" rtlCol="0" anchor="t">
            <a:spAutoFit/>
          </a:bodyPr>
          <a:lstStyle/>
          <a:p>
            <a:pPr marL="539750" lvl="1" indent="-269875">
              <a:lnSpc>
                <a:spcPts val="3500"/>
              </a:lnSpc>
              <a:buFont typeface="Arial"/>
              <a:buChar char="•"/>
            </a:pPr>
            <a:r>
              <a:rPr lang="en-US" sz="2500" dirty="0">
                <a:solidFill>
                  <a:srgbClr val="6B4815"/>
                </a:solidFill>
                <a:latin typeface="Inter"/>
                <a:ea typeface="Inter"/>
                <a:cs typeface="Inter"/>
                <a:sym typeface="Inter"/>
              </a:rPr>
              <a:t>Ran BNN  notebook examples on our </a:t>
            </a:r>
            <a:r>
              <a:rPr lang="en-US" sz="2500" dirty="0" err="1">
                <a:solidFill>
                  <a:srgbClr val="6B4815"/>
                </a:solidFill>
                <a:latin typeface="Inter"/>
                <a:ea typeface="Inter"/>
                <a:cs typeface="Inter"/>
                <a:sym typeface="Inter"/>
              </a:rPr>
              <a:t>Pynq</a:t>
            </a:r>
            <a:r>
              <a:rPr lang="en-US" sz="2500" dirty="0">
                <a:solidFill>
                  <a:srgbClr val="6B4815"/>
                </a:solidFill>
                <a:latin typeface="Inter"/>
                <a:ea typeface="Inter"/>
                <a:cs typeface="Inter"/>
                <a:sym typeface="Inter"/>
              </a:rPr>
              <a:t> board to evaluate built-in neural networks </a:t>
            </a:r>
            <a:r>
              <a:rPr lang="en-US" sz="2500" dirty="0" err="1">
                <a:solidFill>
                  <a:srgbClr val="6B4815"/>
                </a:solidFill>
                <a:latin typeface="Inter"/>
                <a:ea typeface="Inter"/>
                <a:cs typeface="Inter"/>
                <a:sym typeface="Inter"/>
              </a:rPr>
              <a:t>peformance</a:t>
            </a:r>
            <a:r>
              <a:rPr lang="en-US" sz="2500" dirty="0">
                <a:solidFill>
                  <a:srgbClr val="6B4815"/>
                </a:solidFill>
                <a:latin typeface="Inter"/>
                <a:ea typeface="Inter"/>
                <a:cs typeface="Inter"/>
                <a:sym typeface="Inter"/>
              </a:rPr>
              <a:t> for the hardware and software classifier </a:t>
            </a:r>
            <a:endParaRPr lang="en-US" dirty="0"/>
          </a:p>
          <a:p>
            <a:pPr marL="539750" lvl="1" indent="-269875" algn="l">
              <a:lnSpc>
                <a:spcPts val="3500"/>
              </a:lnSpc>
              <a:buFont typeface="Arial"/>
              <a:buChar char="•"/>
            </a:pPr>
            <a:r>
              <a:rPr lang="en-US" sz="2500" dirty="0">
                <a:solidFill>
                  <a:srgbClr val="6B4815"/>
                </a:solidFill>
                <a:latin typeface="Inter"/>
                <a:ea typeface="Inter"/>
                <a:cs typeface="Inter"/>
                <a:sym typeface="Inter"/>
              </a:rPr>
              <a:t>Selected the best-performing model for lung cancer classification</a:t>
            </a:r>
            <a:endParaRPr lang="en-US" sz="2500" dirty="0">
              <a:solidFill>
                <a:srgbClr val="6B4815"/>
              </a:solidFill>
              <a:latin typeface="Inter"/>
              <a:ea typeface="Inter"/>
              <a:cs typeface="Inter"/>
            </a:endParaRPr>
          </a:p>
        </p:txBody>
      </p:sp>
      <p:sp>
        <p:nvSpPr>
          <p:cNvPr id="7" name="TextBox 7"/>
          <p:cNvSpPr txBox="1"/>
          <p:nvPr/>
        </p:nvSpPr>
        <p:spPr>
          <a:xfrm>
            <a:off x="4565014" y="-1966"/>
            <a:ext cx="8931255" cy="529312"/>
          </a:xfrm>
          <a:prstGeom prst="rect">
            <a:avLst/>
          </a:prstGeom>
        </p:spPr>
        <p:txBody>
          <a:bodyPr wrap="square" lIns="0" tIns="0" rIns="0" bIns="0" rtlCol="0" anchor="t">
            <a:spAutoFit/>
          </a:bodyPr>
          <a:lstStyle/>
          <a:p>
            <a:pPr algn="ctr">
              <a:lnSpc>
                <a:spcPts val="4479"/>
              </a:lnSpc>
              <a:spcBef>
                <a:spcPct val="0"/>
              </a:spcBef>
            </a:pPr>
            <a:r>
              <a:rPr lang="en-US" sz="3199" b="1">
                <a:solidFill>
                  <a:srgbClr val="6B4815"/>
                </a:solidFill>
                <a:latin typeface="Inter Bold"/>
                <a:ea typeface="Inter Bold"/>
                <a:cs typeface="Inter Bold"/>
                <a:sym typeface="Inter Bold"/>
              </a:rPr>
              <a:t>Architecture Selection and Data Preparation</a:t>
            </a:r>
          </a:p>
        </p:txBody>
      </p:sp>
      <p:sp>
        <p:nvSpPr>
          <p:cNvPr id="8" name="TextBox 8"/>
          <p:cNvSpPr txBox="1"/>
          <p:nvPr/>
        </p:nvSpPr>
        <p:spPr>
          <a:xfrm>
            <a:off x="0" y="7650367"/>
            <a:ext cx="7519394" cy="860425"/>
          </a:xfrm>
          <a:prstGeom prst="rect">
            <a:avLst/>
          </a:prstGeom>
        </p:spPr>
        <p:txBody>
          <a:bodyPr lIns="0" tIns="0" rIns="0" bIns="0" rtlCol="0" anchor="t">
            <a:spAutoFit/>
          </a:bodyPr>
          <a:lstStyle/>
          <a:p>
            <a:pPr algn="ctr">
              <a:lnSpc>
                <a:spcPts val="3500"/>
              </a:lnSpc>
              <a:spcBef>
                <a:spcPct val="0"/>
              </a:spcBef>
            </a:pPr>
            <a:r>
              <a:rPr lang="en-US" sz="2500">
                <a:solidFill>
                  <a:srgbClr val="6B4815"/>
                </a:solidFill>
                <a:latin typeface="Inter"/>
                <a:ea typeface="Inter"/>
                <a:cs typeface="Inter"/>
                <a:sym typeface="Inter"/>
              </a:rPr>
              <a:t>Comparaison of hardware execution time of the CNV trained on cifar 10 test set </a:t>
            </a:r>
          </a:p>
        </p:txBody>
      </p:sp>
      <p:sp>
        <p:nvSpPr>
          <p:cNvPr id="9" name="TextBox 9"/>
          <p:cNvSpPr txBox="1"/>
          <p:nvPr/>
        </p:nvSpPr>
        <p:spPr>
          <a:xfrm>
            <a:off x="0" y="8463167"/>
            <a:ext cx="4310165" cy="1736725"/>
          </a:xfrm>
          <a:prstGeom prst="rect">
            <a:avLst/>
          </a:prstGeom>
        </p:spPr>
        <p:txBody>
          <a:bodyPr lIns="0" tIns="0" rIns="0" bIns="0" rtlCol="0" anchor="t">
            <a:spAutoFit/>
          </a:bodyPr>
          <a:lstStyle/>
          <a:p>
            <a:pPr algn="ctr">
              <a:lnSpc>
                <a:spcPts val="3500"/>
              </a:lnSpc>
            </a:pPr>
            <a:r>
              <a:rPr lang="en-US" sz="2500" b="1">
                <a:solidFill>
                  <a:srgbClr val="6B4815"/>
                </a:solidFill>
                <a:latin typeface="Inter Bold"/>
                <a:ea typeface="Inter Bold"/>
                <a:cs typeface="Inter Bold"/>
                <a:sym typeface="Inter Bold"/>
              </a:rPr>
              <a:t>Accuracy result :  hardware</a:t>
            </a:r>
            <a:r>
              <a:rPr lang="en-US" sz="2500">
                <a:solidFill>
                  <a:srgbClr val="6B4815"/>
                </a:solidFill>
                <a:latin typeface="Inter"/>
                <a:ea typeface="Inter"/>
                <a:cs typeface="Inter"/>
                <a:sym typeface="Inter"/>
              </a:rPr>
              <a:t> W1A1: 79.22%</a:t>
            </a:r>
          </a:p>
          <a:p>
            <a:pPr algn="ctr">
              <a:lnSpc>
                <a:spcPts val="3500"/>
              </a:lnSpc>
            </a:pPr>
            <a:r>
              <a:rPr lang="en-US" sz="2500">
                <a:solidFill>
                  <a:srgbClr val="6B4815"/>
                </a:solidFill>
                <a:latin typeface="Inter"/>
                <a:ea typeface="Inter"/>
                <a:cs typeface="Inter"/>
                <a:sym typeface="Inter"/>
              </a:rPr>
              <a:t>W1A2 : 82.66% </a:t>
            </a:r>
          </a:p>
          <a:p>
            <a:pPr algn="ctr">
              <a:lnSpc>
                <a:spcPts val="3500"/>
              </a:lnSpc>
              <a:spcBef>
                <a:spcPct val="0"/>
              </a:spcBef>
            </a:pPr>
            <a:r>
              <a:rPr lang="en-US" sz="2500">
                <a:solidFill>
                  <a:srgbClr val="6B4815"/>
                </a:solidFill>
                <a:latin typeface="Inter"/>
                <a:ea typeface="Inter"/>
                <a:cs typeface="Inter"/>
                <a:sym typeface="Inter"/>
              </a:rPr>
              <a:t>W2A2: 84.29% </a:t>
            </a:r>
          </a:p>
        </p:txBody>
      </p:sp>
      <p:sp>
        <p:nvSpPr>
          <p:cNvPr id="10" name="TextBox 10"/>
          <p:cNvSpPr txBox="1"/>
          <p:nvPr/>
        </p:nvSpPr>
        <p:spPr>
          <a:xfrm>
            <a:off x="4699133" y="8476520"/>
            <a:ext cx="3776572" cy="1810480"/>
          </a:xfrm>
          <a:prstGeom prst="rect">
            <a:avLst/>
          </a:prstGeom>
        </p:spPr>
        <p:txBody>
          <a:bodyPr lIns="0" tIns="0" rIns="0" bIns="0" rtlCol="0" anchor="t">
            <a:spAutoFit/>
          </a:bodyPr>
          <a:lstStyle/>
          <a:p>
            <a:pPr algn="l">
              <a:lnSpc>
                <a:spcPts val="3634"/>
              </a:lnSpc>
              <a:spcBef>
                <a:spcPct val="0"/>
              </a:spcBef>
            </a:pPr>
            <a:r>
              <a:rPr lang="en-US" sz="2596" b="1">
                <a:solidFill>
                  <a:srgbClr val="6B4815"/>
                </a:solidFill>
                <a:latin typeface="Inter Bold"/>
                <a:ea typeface="Inter Bold"/>
                <a:cs typeface="Inter Bold"/>
                <a:sym typeface="Inter Bold"/>
              </a:rPr>
              <a:t>Accuracy and best inference</a:t>
            </a:r>
            <a:r>
              <a:rPr lang="en-US" sz="2596">
                <a:solidFill>
                  <a:srgbClr val="6B4815"/>
                </a:solidFill>
                <a:latin typeface="Inter"/>
                <a:ea typeface="Inter"/>
                <a:cs typeface="Inter"/>
                <a:sym typeface="Inter"/>
              </a:rPr>
              <a:t> time result :  software 700s W2A2: 79.22%</a:t>
            </a:r>
          </a:p>
        </p:txBody>
      </p:sp>
      <p:sp>
        <p:nvSpPr>
          <p:cNvPr id="11" name="TextBox 11"/>
          <p:cNvSpPr txBox="1"/>
          <p:nvPr/>
        </p:nvSpPr>
        <p:spPr>
          <a:xfrm>
            <a:off x="9381138" y="7510259"/>
            <a:ext cx="8576441" cy="860425"/>
          </a:xfrm>
          <a:prstGeom prst="rect">
            <a:avLst/>
          </a:prstGeom>
        </p:spPr>
        <p:txBody>
          <a:bodyPr lIns="0" tIns="0" rIns="0" bIns="0" rtlCol="0" anchor="t">
            <a:spAutoFit/>
          </a:bodyPr>
          <a:lstStyle/>
          <a:p>
            <a:pPr algn="ctr">
              <a:lnSpc>
                <a:spcPts val="3500"/>
              </a:lnSpc>
              <a:spcBef>
                <a:spcPct val="0"/>
              </a:spcBef>
            </a:pPr>
            <a:r>
              <a:rPr lang="en-US" sz="2500">
                <a:solidFill>
                  <a:srgbClr val="6B4815"/>
                </a:solidFill>
                <a:latin typeface="Inter"/>
                <a:ea typeface="Inter"/>
                <a:cs typeface="Inter"/>
                <a:sym typeface="Inter"/>
              </a:rPr>
              <a:t>Comparaison of hardware execution time of the LFC trained on cifar 10 test set </a:t>
            </a:r>
          </a:p>
        </p:txBody>
      </p:sp>
      <p:sp>
        <p:nvSpPr>
          <p:cNvPr id="12" name="TextBox 12"/>
          <p:cNvSpPr txBox="1"/>
          <p:nvPr/>
        </p:nvSpPr>
        <p:spPr>
          <a:xfrm>
            <a:off x="11056307" y="8456409"/>
            <a:ext cx="5988307" cy="1407546"/>
          </a:xfrm>
          <a:prstGeom prst="rect">
            <a:avLst/>
          </a:prstGeom>
        </p:spPr>
        <p:txBody>
          <a:bodyPr lIns="0" tIns="0" rIns="0" bIns="0" rtlCol="0" anchor="t">
            <a:spAutoFit/>
          </a:bodyPr>
          <a:lstStyle/>
          <a:p>
            <a:pPr algn="ctr">
              <a:lnSpc>
                <a:spcPts val="3793"/>
              </a:lnSpc>
            </a:pPr>
            <a:r>
              <a:rPr lang="en-US" sz="2709" b="1">
                <a:solidFill>
                  <a:srgbClr val="6B4815"/>
                </a:solidFill>
                <a:latin typeface="Inter Bold"/>
                <a:ea typeface="Inter Bold"/>
                <a:cs typeface="Inter Bold"/>
                <a:sym typeface="Inter Bold"/>
              </a:rPr>
              <a:t>Best Accuracy result :  </a:t>
            </a:r>
          </a:p>
          <a:p>
            <a:pPr algn="ctr">
              <a:lnSpc>
                <a:spcPts val="3793"/>
              </a:lnSpc>
            </a:pPr>
            <a:r>
              <a:rPr lang="en-US" sz="2709" b="1">
                <a:solidFill>
                  <a:srgbClr val="6B4815"/>
                </a:solidFill>
                <a:latin typeface="Inter Bold"/>
                <a:ea typeface="Inter Bold"/>
                <a:cs typeface="Inter Bold"/>
                <a:sym typeface="Inter Bold"/>
              </a:rPr>
              <a:t>hardware</a:t>
            </a:r>
            <a:r>
              <a:rPr lang="en-US" sz="2709">
                <a:solidFill>
                  <a:srgbClr val="6B4815"/>
                </a:solidFill>
                <a:latin typeface="Inter"/>
                <a:ea typeface="Inter"/>
                <a:cs typeface="Inter"/>
                <a:sym typeface="Inter"/>
              </a:rPr>
              <a:t> W2A2: 98.4%</a:t>
            </a:r>
          </a:p>
          <a:p>
            <a:pPr algn="ctr">
              <a:lnSpc>
                <a:spcPts val="3793"/>
              </a:lnSpc>
              <a:spcBef>
                <a:spcPct val="0"/>
              </a:spcBef>
            </a:pPr>
            <a:r>
              <a:rPr lang="en-US" sz="2709" b="1">
                <a:solidFill>
                  <a:srgbClr val="6B4815"/>
                </a:solidFill>
                <a:latin typeface="Inter Bold"/>
                <a:ea typeface="Inter Bold"/>
                <a:cs typeface="Inter Bold"/>
                <a:sym typeface="Inter Bold"/>
              </a:rPr>
              <a:t>Software</a:t>
            </a:r>
            <a:r>
              <a:rPr lang="en-US" sz="2709">
                <a:solidFill>
                  <a:srgbClr val="6B4815"/>
                </a:solidFill>
                <a:latin typeface="Inter"/>
                <a:ea typeface="Inter"/>
                <a:cs typeface="Inter"/>
                <a:sym typeface="Inter"/>
              </a:rPr>
              <a:t> W2A2 : ~90%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rot="-5400000">
            <a:off x="15081966" y="1854404"/>
            <a:ext cx="8325896" cy="4617088"/>
          </a:xfrm>
          <a:custGeom>
            <a:avLst/>
            <a:gdLst/>
            <a:ahLst/>
            <a:cxnLst/>
            <a:rect l="l" t="t" r="r" b="b"/>
            <a:pathLst>
              <a:path w="8325896" h="4617088">
                <a:moveTo>
                  <a:pt x="0" y="0"/>
                </a:moveTo>
                <a:lnTo>
                  <a:pt x="8325895" y="0"/>
                </a:lnTo>
                <a:lnTo>
                  <a:pt x="8325895" y="4617088"/>
                </a:lnTo>
                <a:lnTo>
                  <a:pt x="0" y="46170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128348" y="3121156"/>
            <a:ext cx="9528330" cy="6967591"/>
          </a:xfrm>
          <a:custGeom>
            <a:avLst/>
            <a:gdLst/>
            <a:ahLst/>
            <a:cxnLst/>
            <a:rect l="l" t="t" r="r" b="b"/>
            <a:pathLst>
              <a:path w="9528330" h="6967591">
                <a:moveTo>
                  <a:pt x="0" y="0"/>
                </a:moveTo>
                <a:lnTo>
                  <a:pt x="9528330" y="0"/>
                </a:lnTo>
                <a:lnTo>
                  <a:pt x="9528330" y="6967591"/>
                </a:lnTo>
                <a:lnTo>
                  <a:pt x="0" y="6967591"/>
                </a:lnTo>
                <a:lnTo>
                  <a:pt x="0" y="0"/>
                </a:lnTo>
                <a:close/>
              </a:path>
            </a:pathLst>
          </a:custGeom>
          <a:blipFill>
            <a:blip r:embed="rId5"/>
            <a:stretch>
              <a:fillRect/>
            </a:stretch>
          </a:blipFill>
        </p:spPr>
      </p:sp>
      <p:sp>
        <p:nvSpPr>
          <p:cNvPr id="4" name="Freeform 4"/>
          <p:cNvSpPr/>
          <p:nvPr/>
        </p:nvSpPr>
        <p:spPr>
          <a:xfrm>
            <a:off x="9812731" y="2546201"/>
            <a:ext cx="8475269" cy="7786653"/>
          </a:xfrm>
          <a:custGeom>
            <a:avLst/>
            <a:gdLst/>
            <a:ahLst/>
            <a:cxnLst/>
            <a:rect l="l" t="t" r="r" b="b"/>
            <a:pathLst>
              <a:path w="8475269" h="7786653">
                <a:moveTo>
                  <a:pt x="0" y="0"/>
                </a:moveTo>
                <a:lnTo>
                  <a:pt x="8475269" y="0"/>
                </a:lnTo>
                <a:lnTo>
                  <a:pt x="8475269" y="7786653"/>
                </a:lnTo>
                <a:lnTo>
                  <a:pt x="0" y="7786653"/>
                </a:lnTo>
                <a:lnTo>
                  <a:pt x="0" y="0"/>
                </a:lnTo>
                <a:close/>
              </a:path>
            </a:pathLst>
          </a:custGeom>
          <a:blipFill>
            <a:blip r:embed="rId6"/>
            <a:stretch>
              <a:fillRect/>
            </a:stretch>
          </a:blipFill>
        </p:spPr>
      </p:sp>
      <p:sp>
        <p:nvSpPr>
          <p:cNvPr id="5" name="TextBox 5"/>
          <p:cNvSpPr txBox="1"/>
          <p:nvPr/>
        </p:nvSpPr>
        <p:spPr>
          <a:xfrm>
            <a:off x="17124090" y="890905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6B4815"/>
                </a:solidFill>
                <a:latin typeface="Inter"/>
                <a:ea typeface="Inter"/>
                <a:cs typeface="Inter"/>
                <a:sym typeface="Inter"/>
              </a:rPr>
              <a:t>7</a:t>
            </a:r>
          </a:p>
        </p:txBody>
      </p:sp>
      <p:sp>
        <p:nvSpPr>
          <p:cNvPr id="6" name="TextBox 6"/>
          <p:cNvSpPr txBox="1"/>
          <p:nvPr/>
        </p:nvSpPr>
        <p:spPr>
          <a:xfrm>
            <a:off x="128348" y="626592"/>
            <a:ext cx="18031304" cy="2237740"/>
          </a:xfrm>
          <a:prstGeom prst="rect">
            <a:avLst/>
          </a:prstGeom>
        </p:spPr>
        <p:txBody>
          <a:bodyPr lIns="0" tIns="0" rIns="0" bIns="0" rtlCol="0" anchor="t">
            <a:spAutoFit/>
          </a:bodyPr>
          <a:lstStyle/>
          <a:p>
            <a:pPr algn="l">
              <a:lnSpc>
                <a:spcPts val="3919"/>
              </a:lnSpc>
              <a:spcBef>
                <a:spcPct val="0"/>
              </a:spcBef>
            </a:pPr>
            <a:r>
              <a:rPr lang="en-US" sz="2799" b="1">
                <a:solidFill>
                  <a:srgbClr val="6B4815"/>
                </a:solidFill>
                <a:latin typeface="Inter Bold"/>
                <a:ea typeface="Inter Bold"/>
                <a:cs typeface="Inter Bold"/>
                <a:sym typeface="Inter Bold"/>
              </a:rPr>
              <a:t>Dataset Preparation:</a:t>
            </a:r>
          </a:p>
          <a:p>
            <a:pPr marL="539751" lvl="1" indent="-269876" algn="l">
              <a:lnSpc>
                <a:spcPts val="3500"/>
              </a:lnSpc>
              <a:buFont typeface="Arial"/>
              <a:buChar char="•"/>
            </a:pPr>
            <a:r>
              <a:rPr lang="en-US" sz="2500">
                <a:solidFill>
                  <a:srgbClr val="6B4815"/>
                </a:solidFill>
                <a:latin typeface="Inter"/>
                <a:ea typeface="Inter"/>
                <a:cs typeface="Inter"/>
                <a:sym typeface="Inter"/>
              </a:rPr>
              <a:t>Downloaded lung cancer dataset from Kaggle</a:t>
            </a:r>
          </a:p>
          <a:p>
            <a:pPr marL="539751" lvl="1" indent="-269876" algn="l">
              <a:lnSpc>
                <a:spcPts val="3500"/>
              </a:lnSpc>
              <a:buFont typeface="Arial"/>
              <a:buChar char="•"/>
            </a:pPr>
            <a:r>
              <a:rPr lang="en-US" sz="2500">
                <a:solidFill>
                  <a:srgbClr val="6B4815"/>
                </a:solidFill>
                <a:latin typeface="Inter"/>
                <a:ea typeface="Inter"/>
                <a:cs typeface="Inter"/>
                <a:sym typeface="Inter"/>
              </a:rPr>
              <a:t>Wrote Python scripts to:</a:t>
            </a:r>
          </a:p>
          <a:p>
            <a:pPr marL="539751" lvl="1" indent="-269876" algn="l">
              <a:lnSpc>
                <a:spcPts val="3500"/>
              </a:lnSpc>
              <a:buFont typeface="Arial"/>
              <a:buChar char="•"/>
            </a:pPr>
            <a:r>
              <a:rPr lang="en-US" sz="2500">
                <a:solidFill>
                  <a:srgbClr val="6B4815"/>
                </a:solidFill>
                <a:latin typeface="Inter"/>
                <a:ea typeface="Inter"/>
                <a:cs typeface="Inter"/>
                <a:sym typeface="Inter"/>
              </a:rPr>
              <a:t>Reorganize images into two classes: Benign and Malignant &amp; Resize images to 32×32  for compatibility with the board</a:t>
            </a:r>
          </a:p>
        </p:txBody>
      </p:sp>
      <p:sp>
        <p:nvSpPr>
          <p:cNvPr id="7" name="TextBox 7"/>
          <p:cNvSpPr txBox="1"/>
          <p:nvPr/>
        </p:nvSpPr>
        <p:spPr>
          <a:xfrm>
            <a:off x="4459099" y="136371"/>
            <a:ext cx="8782169" cy="547370"/>
          </a:xfrm>
          <a:prstGeom prst="rect">
            <a:avLst/>
          </a:prstGeom>
        </p:spPr>
        <p:txBody>
          <a:bodyPr lIns="0" tIns="0" rIns="0" bIns="0" rtlCol="0" anchor="t">
            <a:spAutoFit/>
          </a:bodyPr>
          <a:lstStyle/>
          <a:p>
            <a:pPr algn="ctr">
              <a:lnSpc>
                <a:spcPts val="4479"/>
              </a:lnSpc>
              <a:spcBef>
                <a:spcPct val="0"/>
              </a:spcBef>
            </a:pPr>
            <a:r>
              <a:rPr lang="en-US" sz="3199" b="1">
                <a:solidFill>
                  <a:srgbClr val="6B4815"/>
                </a:solidFill>
                <a:latin typeface="Inter Bold"/>
                <a:ea typeface="Inter Bold"/>
                <a:cs typeface="Inter Bold"/>
                <a:sym typeface="Inter Bold"/>
              </a:rPr>
              <a:t>Architecture Selection and Data Preparation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rot="-5400000">
            <a:off x="15269686" y="1854404"/>
            <a:ext cx="8325896" cy="4617088"/>
          </a:xfrm>
          <a:custGeom>
            <a:avLst/>
            <a:gdLst/>
            <a:ahLst/>
            <a:cxnLst/>
            <a:rect l="l" t="t" r="r" b="b"/>
            <a:pathLst>
              <a:path w="8325896" h="4617088">
                <a:moveTo>
                  <a:pt x="0" y="0"/>
                </a:moveTo>
                <a:lnTo>
                  <a:pt x="8325895" y="0"/>
                </a:lnTo>
                <a:lnTo>
                  <a:pt x="8325895" y="4617088"/>
                </a:lnTo>
                <a:lnTo>
                  <a:pt x="0" y="46170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332611" y="3282954"/>
            <a:ext cx="13851141" cy="6526019"/>
          </a:xfrm>
          <a:custGeom>
            <a:avLst/>
            <a:gdLst/>
            <a:ahLst/>
            <a:cxnLst/>
            <a:rect l="l" t="t" r="r" b="b"/>
            <a:pathLst>
              <a:path w="13851141" h="6526019">
                <a:moveTo>
                  <a:pt x="0" y="0"/>
                </a:moveTo>
                <a:lnTo>
                  <a:pt x="13851141" y="0"/>
                </a:lnTo>
                <a:lnTo>
                  <a:pt x="13851141" y="6526018"/>
                </a:lnTo>
                <a:lnTo>
                  <a:pt x="0" y="6526018"/>
                </a:lnTo>
                <a:lnTo>
                  <a:pt x="0" y="0"/>
                </a:lnTo>
                <a:close/>
              </a:path>
            </a:pathLst>
          </a:custGeom>
          <a:blipFill>
            <a:blip r:embed="rId5"/>
            <a:stretch>
              <a:fillRect/>
            </a:stretch>
          </a:blipFill>
        </p:spPr>
      </p:sp>
      <p:sp>
        <p:nvSpPr>
          <p:cNvPr id="4" name="TextBox 4"/>
          <p:cNvSpPr txBox="1"/>
          <p:nvPr/>
        </p:nvSpPr>
        <p:spPr>
          <a:xfrm>
            <a:off x="17124090" y="890905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6B4815"/>
                </a:solidFill>
                <a:latin typeface="Inter"/>
                <a:ea typeface="Inter"/>
                <a:cs typeface="Inter"/>
                <a:sym typeface="Inter"/>
              </a:rPr>
              <a:t>8</a:t>
            </a:r>
          </a:p>
        </p:txBody>
      </p:sp>
      <p:sp>
        <p:nvSpPr>
          <p:cNvPr id="5" name="TextBox 5"/>
          <p:cNvSpPr txBox="1"/>
          <p:nvPr/>
        </p:nvSpPr>
        <p:spPr>
          <a:xfrm>
            <a:off x="5993035" y="54084"/>
            <a:ext cx="7006828" cy="596901"/>
          </a:xfrm>
          <a:prstGeom prst="rect">
            <a:avLst/>
          </a:prstGeom>
        </p:spPr>
        <p:txBody>
          <a:bodyPr lIns="0" tIns="0" rIns="0" bIns="0" rtlCol="0" anchor="t">
            <a:spAutoFit/>
          </a:bodyPr>
          <a:lstStyle/>
          <a:p>
            <a:pPr algn="ctr">
              <a:lnSpc>
                <a:spcPts val="4899"/>
              </a:lnSpc>
              <a:spcBef>
                <a:spcPct val="0"/>
              </a:spcBef>
            </a:pPr>
            <a:r>
              <a:rPr lang="en-US" sz="3499" b="1">
                <a:solidFill>
                  <a:srgbClr val="6B4815"/>
                </a:solidFill>
                <a:latin typeface="Inter Bold"/>
                <a:ea typeface="Inter Bold"/>
                <a:cs typeface="Inter Bold"/>
                <a:sym typeface="Inter Bold"/>
              </a:rPr>
              <a:t>Model Training and Deployment </a:t>
            </a:r>
          </a:p>
        </p:txBody>
      </p:sp>
      <p:sp>
        <p:nvSpPr>
          <p:cNvPr id="6" name="TextBox 6"/>
          <p:cNvSpPr txBox="1"/>
          <p:nvPr/>
        </p:nvSpPr>
        <p:spPr>
          <a:xfrm>
            <a:off x="0" y="782822"/>
            <a:ext cx="7466301" cy="860425"/>
          </a:xfrm>
          <a:prstGeom prst="rect">
            <a:avLst/>
          </a:prstGeom>
        </p:spPr>
        <p:txBody>
          <a:bodyPr lIns="0" tIns="0" rIns="0" bIns="0" rtlCol="0" anchor="t">
            <a:spAutoFit/>
          </a:bodyPr>
          <a:lstStyle/>
          <a:p>
            <a:pPr algn="ctr">
              <a:lnSpc>
                <a:spcPts val="3500"/>
              </a:lnSpc>
              <a:spcBef>
                <a:spcPct val="0"/>
              </a:spcBef>
            </a:pPr>
            <a:r>
              <a:rPr lang="en-US" sz="2500" b="1">
                <a:solidFill>
                  <a:srgbClr val="6B4815"/>
                </a:solidFill>
                <a:latin typeface="Inter Bold"/>
                <a:ea typeface="Inter Bold"/>
                <a:cs typeface="Inter Bold"/>
                <a:sym typeface="Inter Bold"/>
              </a:rPr>
              <a:t>step 1:</a:t>
            </a:r>
            <a:r>
              <a:rPr lang="en-US" sz="2500">
                <a:solidFill>
                  <a:srgbClr val="6B4815"/>
                </a:solidFill>
                <a:latin typeface="Inter"/>
                <a:ea typeface="Inter"/>
                <a:cs typeface="Inter"/>
                <a:sym typeface="Inter"/>
              </a:rPr>
              <a:t> Trained model using lung_cancer.py (Python 2.7 virtual environment)</a:t>
            </a:r>
          </a:p>
        </p:txBody>
      </p:sp>
      <p:sp>
        <p:nvSpPr>
          <p:cNvPr id="7" name="TextBox 7"/>
          <p:cNvSpPr txBox="1"/>
          <p:nvPr/>
        </p:nvSpPr>
        <p:spPr>
          <a:xfrm>
            <a:off x="332611" y="1974850"/>
            <a:ext cx="7610382" cy="860425"/>
          </a:xfrm>
          <a:prstGeom prst="rect">
            <a:avLst/>
          </a:prstGeom>
        </p:spPr>
        <p:txBody>
          <a:bodyPr lIns="0" tIns="0" rIns="0" bIns="0" rtlCol="0" anchor="t">
            <a:spAutoFit/>
          </a:bodyPr>
          <a:lstStyle/>
          <a:p>
            <a:pPr algn="ctr">
              <a:lnSpc>
                <a:spcPts val="3500"/>
              </a:lnSpc>
              <a:spcBef>
                <a:spcPct val="0"/>
              </a:spcBef>
            </a:pPr>
            <a:r>
              <a:rPr lang="en-US" sz="2500" b="1">
                <a:solidFill>
                  <a:srgbClr val="6B4815"/>
                </a:solidFill>
                <a:latin typeface="Inter Bold"/>
                <a:ea typeface="Inter Bold"/>
                <a:cs typeface="Inter Bold"/>
                <a:sym typeface="Inter Bold"/>
              </a:rPr>
              <a:t>Step 2: </a:t>
            </a:r>
            <a:r>
              <a:rPr lang="en-US" sz="2500">
                <a:solidFill>
                  <a:srgbClr val="6B4815"/>
                </a:solidFill>
                <a:latin typeface="Inter"/>
                <a:ea typeface="Inter"/>
                <a:cs typeface="Inter"/>
                <a:sym typeface="Inter"/>
              </a:rPr>
              <a:t>Generated .npz model files with training parameters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rot="-5400000">
            <a:off x="14751592" y="1854404"/>
            <a:ext cx="8325896" cy="4617088"/>
          </a:xfrm>
          <a:custGeom>
            <a:avLst/>
            <a:gdLst/>
            <a:ahLst/>
            <a:cxnLst/>
            <a:rect l="l" t="t" r="r" b="b"/>
            <a:pathLst>
              <a:path w="8325896" h="4617088">
                <a:moveTo>
                  <a:pt x="0" y="0"/>
                </a:moveTo>
                <a:lnTo>
                  <a:pt x="8325896" y="0"/>
                </a:lnTo>
                <a:lnTo>
                  <a:pt x="8325896" y="4617088"/>
                </a:lnTo>
                <a:lnTo>
                  <a:pt x="0" y="46170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228244" y="1597301"/>
            <a:ext cx="18059756" cy="2945668"/>
          </a:xfrm>
          <a:custGeom>
            <a:avLst/>
            <a:gdLst/>
            <a:ahLst/>
            <a:cxnLst/>
            <a:rect l="l" t="t" r="r" b="b"/>
            <a:pathLst>
              <a:path w="18059756" h="3736975">
                <a:moveTo>
                  <a:pt x="0" y="0"/>
                </a:moveTo>
                <a:lnTo>
                  <a:pt x="18059756" y="0"/>
                </a:lnTo>
                <a:lnTo>
                  <a:pt x="18059756" y="3736975"/>
                </a:lnTo>
                <a:lnTo>
                  <a:pt x="0" y="3736975"/>
                </a:lnTo>
                <a:lnTo>
                  <a:pt x="0" y="0"/>
                </a:lnTo>
                <a:close/>
              </a:path>
            </a:pathLst>
          </a:custGeom>
          <a:blipFill>
            <a:blip r:embed="rId5"/>
            <a:stretch>
              <a:fillRect t="-58483" b="-92446"/>
            </a:stretch>
          </a:blipFill>
        </p:spPr>
      </p:sp>
      <p:sp>
        <p:nvSpPr>
          <p:cNvPr id="4" name="Freeform 4"/>
          <p:cNvSpPr/>
          <p:nvPr/>
        </p:nvSpPr>
        <p:spPr>
          <a:xfrm>
            <a:off x="228244" y="4675129"/>
            <a:ext cx="17835084" cy="2608381"/>
          </a:xfrm>
          <a:custGeom>
            <a:avLst/>
            <a:gdLst/>
            <a:ahLst/>
            <a:cxnLst/>
            <a:rect l="l" t="t" r="r" b="b"/>
            <a:pathLst>
              <a:path w="17835084" h="2608381">
                <a:moveTo>
                  <a:pt x="0" y="0"/>
                </a:moveTo>
                <a:lnTo>
                  <a:pt x="17835083" y="0"/>
                </a:lnTo>
                <a:lnTo>
                  <a:pt x="17835083" y="2608381"/>
                </a:lnTo>
                <a:lnTo>
                  <a:pt x="0" y="2608381"/>
                </a:lnTo>
                <a:lnTo>
                  <a:pt x="0" y="0"/>
                </a:lnTo>
                <a:close/>
              </a:path>
            </a:pathLst>
          </a:custGeom>
          <a:blipFill>
            <a:blip r:embed="rId6"/>
            <a:stretch>
              <a:fillRect/>
            </a:stretch>
          </a:blipFill>
        </p:spPr>
      </p:sp>
      <p:sp>
        <p:nvSpPr>
          <p:cNvPr id="5" name="TextBox 5"/>
          <p:cNvSpPr txBox="1"/>
          <p:nvPr/>
        </p:nvSpPr>
        <p:spPr>
          <a:xfrm>
            <a:off x="17124090" y="890905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6B4815"/>
                </a:solidFill>
                <a:latin typeface="Inter"/>
                <a:ea typeface="Inter"/>
                <a:cs typeface="Inter"/>
                <a:sym typeface="Inter"/>
              </a:rPr>
              <a:t>9</a:t>
            </a:r>
          </a:p>
        </p:txBody>
      </p:sp>
      <p:sp>
        <p:nvSpPr>
          <p:cNvPr id="6" name="TextBox 6"/>
          <p:cNvSpPr txBox="1"/>
          <p:nvPr/>
        </p:nvSpPr>
        <p:spPr>
          <a:xfrm>
            <a:off x="228244" y="793750"/>
            <a:ext cx="9760864" cy="422275"/>
          </a:xfrm>
          <a:prstGeom prst="rect">
            <a:avLst/>
          </a:prstGeom>
        </p:spPr>
        <p:txBody>
          <a:bodyPr lIns="0" tIns="0" rIns="0" bIns="0" rtlCol="0" anchor="t">
            <a:spAutoFit/>
          </a:bodyPr>
          <a:lstStyle/>
          <a:p>
            <a:pPr algn="ctr">
              <a:lnSpc>
                <a:spcPts val="3500"/>
              </a:lnSpc>
              <a:spcBef>
                <a:spcPct val="0"/>
              </a:spcBef>
            </a:pPr>
            <a:r>
              <a:rPr lang="en-US" sz="2500" b="1">
                <a:solidFill>
                  <a:srgbClr val="6B4815"/>
                </a:solidFill>
                <a:latin typeface="Inter Bold"/>
                <a:ea typeface="Inter Bold"/>
                <a:cs typeface="Inter Bold"/>
                <a:sym typeface="Inter Bold"/>
              </a:rPr>
              <a:t>Step 4</a:t>
            </a:r>
            <a:r>
              <a:rPr lang="en-US" sz="2500">
                <a:solidFill>
                  <a:srgbClr val="6B4815"/>
                </a:solidFill>
                <a:latin typeface="Inter"/>
                <a:ea typeface="Inter"/>
                <a:cs typeface="Inter"/>
                <a:sym typeface="Inter"/>
              </a:rPr>
              <a:t>: Convert to Binary Format for PYNQ (Using FINNthesizer) </a:t>
            </a:r>
          </a:p>
        </p:txBody>
      </p:sp>
      <p:sp>
        <p:nvSpPr>
          <p:cNvPr id="7" name="TextBox 7"/>
          <p:cNvSpPr txBox="1"/>
          <p:nvPr/>
        </p:nvSpPr>
        <p:spPr>
          <a:xfrm>
            <a:off x="5993035" y="54084"/>
            <a:ext cx="7006828" cy="596901"/>
          </a:xfrm>
          <a:prstGeom prst="rect">
            <a:avLst/>
          </a:prstGeom>
        </p:spPr>
        <p:txBody>
          <a:bodyPr lIns="0" tIns="0" rIns="0" bIns="0" rtlCol="0" anchor="t">
            <a:spAutoFit/>
          </a:bodyPr>
          <a:lstStyle/>
          <a:p>
            <a:pPr algn="ctr">
              <a:lnSpc>
                <a:spcPts val="4899"/>
              </a:lnSpc>
              <a:spcBef>
                <a:spcPct val="0"/>
              </a:spcBef>
            </a:pPr>
            <a:r>
              <a:rPr lang="en-US" sz="3499" b="1">
                <a:solidFill>
                  <a:srgbClr val="6B4815"/>
                </a:solidFill>
                <a:latin typeface="Inter Bold"/>
                <a:ea typeface="Inter Bold"/>
                <a:cs typeface="Inter Bold"/>
                <a:sym typeface="Inter Bold"/>
              </a:rPr>
              <a:t>Model Training and Deployment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
        <p:nvSpPr>
          <p:cNvPr id="3" name="TextBox 3"/>
          <p:cNvSpPr txBox="1"/>
          <p:nvPr/>
        </p:nvSpPr>
        <p:spPr>
          <a:xfrm>
            <a:off x="5001756" y="260622"/>
            <a:ext cx="8284488" cy="455295"/>
          </a:xfrm>
          <a:prstGeom prst="rect">
            <a:avLst/>
          </a:prstGeom>
        </p:spPr>
        <p:txBody>
          <a:bodyPr lIns="0" tIns="0" rIns="0" bIns="0" rtlCol="0" anchor="t">
            <a:spAutoFit/>
          </a:bodyPr>
          <a:lstStyle/>
          <a:p>
            <a:pPr algn="ctr">
              <a:lnSpc>
                <a:spcPts val="3779"/>
              </a:lnSpc>
              <a:spcBef>
                <a:spcPct val="0"/>
              </a:spcBef>
            </a:pPr>
            <a:r>
              <a:rPr lang="en-US" sz="2700" b="1">
                <a:solidFill>
                  <a:srgbClr val="000000"/>
                </a:solidFill>
                <a:latin typeface="Inter Bold"/>
                <a:ea typeface="Inter Bold"/>
                <a:cs typeface="Inter Bold"/>
                <a:sym typeface="Inter Bold"/>
              </a:rPr>
              <a:t>Reflection – Lessons Learned &amp; Challenges Faced</a:t>
            </a:r>
          </a:p>
        </p:txBody>
      </p:sp>
      <p:sp>
        <p:nvSpPr>
          <p:cNvPr id="4" name="TextBox 4"/>
          <p:cNvSpPr txBox="1"/>
          <p:nvPr/>
        </p:nvSpPr>
        <p:spPr>
          <a:xfrm>
            <a:off x="804422" y="833191"/>
            <a:ext cx="13505259" cy="8936022"/>
          </a:xfrm>
          <a:prstGeom prst="rect">
            <a:avLst/>
          </a:prstGeom>
        </p:spPr>
        <p:txBody>
          <a:bodyPr lIns="0" tIns="0" rIns="0" bIns="0" rtlCol="0" anchor="t">
            <a:spAutoFit/>
          </a:bodyPr>
          <a:lstStyle/>
          <a:p>
            <a:pPr algn="l">
              <a:lnSpc>
                <a:spcPts val="3588"/>
              </a:lnSpc>
              <a:spcBef>
                <a:spcPct val="0"/>
              </a:spcBef>
            </a:pPr>
            <a:r>
              <a:rPr lang="en-US" sz="2563" b="1">
                <a:solidFill>
                  <a:srgbClr val="000000"/>
                </a:solidFill>
                <a:latin typeface="Inter Bold"/>
                <a:ea typeface="Inter Bold"/>
                <a:cs typeface="Inter Bold"/>
                <a:sym typeface="Inter Bold"/>
              </a:rPr>
              <a:t>What to Do </a:t>
            </a:r>
            <a:r>
              <a:rPr lang="en-US" sz="2563">
                <a:solidFill>
                  <a:srgbClr val="000000"/>
                </a:solidFill>
                <a:latin typeface="Inter"/>
                <a:ea typeface="Inter"/>
                <a:cs typeface="Inter"/>
                <a:sym typeface="Inter"/>
              </a:rPr>
              <a:t>✅</a:t>
            </a:r>
          </a:p>
          <a:p>
            <a:pPr marL="553375" lvl="1" indent="-276688" algn="l">
              <a:lnSpc>
                <a:spcPts val="3588"/>
              </a:lnSpc>
              <a:buFont typeface="Arial"/>
              <a:buChar char="•"/>
            </a:pPr>
            <a:r>
              <a:rPr lang="en-US" sz="2563">
                <a:solidFill>
                  <a:srgbClr val="000000"/>
                </a:solidFill>
                <a:latin typeface="Inter"/>
                <a:ea typeface="Inter"/>
                <a:cs typeface="Inter"/>
                <a:sym typeface="Inter"/>
              </a:rPr>
              <a:t>Use BNN-PYNQ overlays for quick FPGA prototyping.</a:t>
            </a:r>
          </a:p>
          <a:p>
            <a:pPr marL="553375" lvl="1" indent="-276688" algn="l">
              <a:lnSpc>
                <a:spcPts val="3588"/>
              </a:lnSpc>
              <a:buFont typeface="Arial"/>
              <a:buChar char="•"/>
            </a:pPr>
            <a:r>
              <a:rPr lang="en-US" sz="2563">
                <a:solidFill>
                  <a:srgbClr val="000000"/>
                </a:solidFill>
                <a:latin typeface="Inter"/>
                <a:ea typeface="Inter"/>
                <a:cs typeface="Inter"/>
                <a:sym typeface="Inter"/>
              </a:rPr>
              <a:t>Stick to officially supported tool versions:</a:t>
            </a:r>
          </a:p>
          <a:p>
            <a:pPr marL="553375" lvl="1" indent="-276688" algn="l">
              <a:lnSpc>
                <a:spcPts val="3588"/>
              </a:lnSpc>
              <a:buFont typeface="Arial"/>
              <a:buChar char="•"/>
            </a:pPr>
            <a:r>
              <a:rPr lang="en-US" sz="2563">
                <a:solidFill>
                  <a:srgbClr val="000000"/>
                </a:solidFill>
                <a:latin typeface="Inter"/>
                <a:ea typeface="Inter"/>
                <a:cs typeface="Inter"/>
                <a:sym typeface="Inter"/>
              </a:rPr>
              <a:t>Python 2.7 for legacy BNN scripts</a:t>
            </a:r>
          </a:p>
          <a:p>
            <a:pPr marL="553375" lvl="1" indent="-276688" algn="l">
              <a:lnSpc>
                <a:spcPts val="3588"/>
              </a:lnSpc>
              <a:buFont typeface="Arial"/>
              <a:buChar char="•"/>
            </a:pPr>
            <a:r>
              <a:rPr lang="en-US" sz="2563">
                <a:solidFill>
                  <a:srgbClr val="000000"/>
                </a:solidFill>
                <a:latin typeface="Inter"/>
                <a:ea typeface="Inter"/>
                <a:cs typeface="Inter"/>
                <a:sym typeface="Inter"/>
              </a:rPr>
              <a:t>Vivado 2018.2 HLS for hardware compilation</a:t>
            </a:r>
          </a:p>
          <a:p>
            <a:pPr marL="553375" lvl="1" indent="-276688" algn="l">
              <a:lnSpc>
                <a:spcPts val="3588"/>
              </a:lnSpc>
              <a:buFont typeface="Arial"/>
              <a:buChar char="•"/>
            </a:pPr>
            <a:r>
              <a:rPr lang="en-US" sz="2563">
                <a:solidFill>
                  <a:srgbClr val="000000"/>
                </a:solidFill>
                <a:latin typeface="Inter"/>
                <a:ea typeface="Inter"/>
                <a:cs typeface="Inter"/>
                <a:sym typeface="Inter"/>
              </a:rPr>
              <a:t>Always verify .so libraries exist after setup.</a:t>
            </a:r>
          </a:p>
          <a:p>
            <a:pPr marL="553375" lvl="1" indent="-276688" algn="l">
              <a:lnSpc>
                <a:spcPts val="3588"/>
              </a:lnSpc>
              <a:buFont typeface="Arial"/>
              <a:buChar char="•"/>
            </a:pPr>
            <a:r>
              <a:rPr lang="en-US" sz="2563">
                <a:solidFill>
                  <a:srgbClr val="000000"/>
                </a:solidFill>
                <a:latin typeface="Inter"/>
                <a:ea typeface="Inter"/>
                <a:cs typeface="Inter"/>
                <a:sym typeface="Inter"/>
              </a:rPr>
              <a:t>Follow established workflows (e.g., FINNthesizer pipeline) before customizing.</a:t>
            </a:r>
          </a:p>
          <a:p>
            <a:pPr marL="553375" lvl="1" indent="-276688" algn="l">
              <a:lnSpc>
                <a:spcPts val="3588"/>
              </a:lnSpc>
              <a:buFont typeface="Arial"/>
              <a:buChar char="•"/>
            </a:pPr>
            <a:r>
              <a:rPr lang="en-US" sz="2563">
                <a:solidFill>
                  <a:srgbClr val="000000"/>
                </a:solidFill>
                <a:latin typeface="Inter"/>
                <a:ea typeface="Inter"/>
                <a:cs typeface="Inter"/>
                <a:sym typeface="Inter"/>
              </a:rPr>
              <a:t>Document each step and error for efficient debugging.</a:t>
            </a:r>
          </a:p>
          <a:p>
            <a:pPr algn="l">
              <a:lnSpc>
                <a:spcPts val="3588"/>
              </a:lnSpc>
            </a:pPr>
            <a:endParaRPr lang="en-US" sz="2563">
              <a:solidFill>
                <a:srgbClr val="000000"/>
              </a:solidFill>
              <a:latin typeface="Inter"/>
              <a:ea typeface="Inter"/>
              <a:cs typeface="Inter"/>
              <a:sym typeface="Inter"/>
            </a:endParaRPr>
          </a:p>
          <a:p>
            <a:pPr algn="l">
              <a:lnSpc>
                <a:spcPts val="3588"/>
              </a:lnSpc>
              <a:spcBef>
                <a:spcPct val="0"/>
              </a:spcBef>
            </a:pPr>
            <a:r>
              <a:rPr lang="en-US" sz="2563" b="1">
                <a:solidFill>
                  <a:srgbClr val="000000"/>
                </a:solidFill>
                <a:latin typeface="Inter Bold"/>
                <a:ea typeface="Inter Bold"/>
                <a:cs typeface="Inter Bold"/>
                <a:sym typeface="Inter Bold"/>
              </a:rPr>
              <a:t>What Not to Do</a:t>
            </a:r>
            <a:r>
              <a:rPr lang="en-US" sz="2563">
                <a:solidFill>
                  <a:srgbClr val="000000"/>
                </a:solidFill>
                <a:latin typeface="Inter"/>
                <a:ea typeface="Inter"/>
                <a:cs typeface="Inter"/>
                <a:sym typeface="Inter"/>
              </a:rPr>
              <a:t> ❌</a:t>
            </a:r>
          </a:p>
          <a:p>
            <a:pPr marL="553375" lvl="1" indent="-276688" algn="l">
              <a:lnSpc>
                <a:spcPts val="3588"/>
              </a:lnSpc>
              <a:buFont typeface="Arial"/>
              <a:buChar char="•"/>
            </a:pPr>
            <a:r>
              <a:rPr lang="en-US" sz="2563">
                <a:solidFill>
                  <a:srgbClr val="000000"/>
                </a:solidFill>
                <a:latin typeface="Inter"/>
                <a:ea typeface="Inter"/>
                <a:cs typeface="Inter"/>
                <a:sym typeface="Inter"/>
              </a:rPr>
              <a:t>Avoid mixing Vivado versions; stick to the one known to work (2018.2).</a:t>
            </a:r>
          </a:p>
          <a:p>
            <a:pPr marL="553375" lvl="1" indent="-276688" algn="l">
              <a:lnSpc>
                <a:spcPts val="3588"/>
              </a:lnSpc>
              <a:buFont typeface="Arial"/>
              <a:buChar char="•"/>
            </a:pPr>
            <a:r>
              <a:rPr lang="en-US" sz="2563">
                <a:solidFill>
                  <a:srgbClr val="000000"/>
                </a:solidFill>
                <a:latin typeface="Inter"/>
                <a:ea typeface="Inter"/>
                <a:cs typeface="Inter"/>
                <a:sym typeface="Inter"/>
              </a:rPr>
              <a:t>Don't assume overlays contain expected IP blocks—always inspect .bit file contents.</a:t>
            </a:r>
          </a:p>
          <a:p>
            <a:pPr marL="553375" lvl="1" indent="-276688" algn="l">
              <a:lnSpc>
                <a:spcPts val="3588"/>
              </a:lnSpc>
              <a:buFont typeface="Arial"/>
              <a:buChar char="•"/>
            </a:pPr>
            <a:r>
              <a:rPr lang="en-US" sz="2563">
                <a:solidFill>
                  <a:srgbClr val="000000"/>
                </a:solidFill>
                <a:latin typeface="Inter"/>
                <a:ea typeface="Inter"/>
                <a:cs typeface="Inter"/>
                <a:sym typeface="Inter"/>
              </a:rPr>
              <a:t>Never skip testing with precompiled examples before deploying custom data.</a:t>
            </a:r>
          </a:p>
          <a:p>
            <a:pPr marL="553375" lvl="1" indent="-276688" algn="l">
              <a:lnSpc>
                <a:spcPts val="3588"/>
              </a:lnSpc>
              <a:buFont typeface="Arial"/>
              <a:buChar char="•"/>
            </a:pPr>
            <a:r>
              <a:rPr lang="en-US" sz="2563">
                <a:solidFill>
                  <a:srgbClr val="000000"/>
                </a:solidFill>
                <a:latin typeface="Inter"/>
                <a:ea typeface="Inter"/>
                <a:cs typeface="Inter"/>
                <a:sym typeface="Inter"/>
              </a:rPr>
              <a:t>Don't use unsupported Python versions (e.g., 3.6+) unless fully compatible.</a:t>
            </a:r>
          </a:p>
          <a:p>
            <a:pPr algn="l">
              <a:lnSpc>
                <a:spcPts val="3588"/>
              </a:lnSpc>
            </a:pPr>
            <a:endParaRPr lang="en-US" sz="2563">
              <a:solidFill>
                <a:srgbClr val="000000"/>
              </a:solidFill>
              <a:latin typeface="Inter"/>
              <a:ea typeface="Inter"/>
              <a:cs typeface="Inter"/>
              <a:sym typeface="Inter"/>
            </a:endParaRPr>
          </a:p>
          <a:p>
            <a:pPr algn="l">
              <a:lnSpc>
                <a:spcPts val="3588"/>
              </a:lnSpc>
              <a:spcBef>
                <a:spcPct val="0"/>
              </a:spcBef>
            </a:pPr>
            <a:r>
              <a:rPr lang="en-US" sz="2563" b="1">
                <a:solidFill>
                  <a:srgbClr val="000000"/>
                </a:solidFill>
                <a:latin typeface="Inter Bold"/>
                <a:ea typeface="Inter Bold"/>
                <a:cs typeface="Inter Bold"/>
                <a:sym typeface="Inter Bold"/>
              </a:rPr>
              <a:t>Key Debugging Challenges</a:t>
            </a:r>
          </a:p>
          <a:p>
            <a:pPr marL="553375" lvl="1" indent="-276688" algn="l">
              <a:lnSpc>
                <a:spcPts val="3588"/>
              </a:lnSpc>
              <a:buFont typeface="Arial"/>
              <a:buChar char="•"/>
            </a:pPr>
            <a:r>
              <a:rPr lang="en-US" sz="2563">
                <a:solidFill>
                  <a:srgbClr val="000000"/>
                </a:solidFill>
                <a:latin typeface="Inter"/>
                <a:ea typeface="Inter"/>
                <a:cs typeface="Inter"/>
                <a:sym typeface="Inter"/>
              </a:rPr>
              <a:t>Missing .so files: road-signs-cnv-pynq.so, libbnn.so</a:t>
            </a:r>
          </a:p>
          <a:p>
            <a:pPr marL="553375" lvl="1" indent="-276688" algn="l">
              <a:lnSpc>
                <a:spcPts val="3588"/>
              </a:lnSpc>
              <a:buFont typeface="Arial"/>
              <a:buChar char="•"/>
            </a:pPr>
            <a:r>
              <a:rPr lang="en-US" sz="2563">
                <a:solidFill>
                  <a:srgbClr val="000000"/>
                </a:solidFill>
                <a:latin typeface="Inter"/>
                <a:ea typeface="Inter"/>
                <a:cs typeface="Inter"/>
                <a:sym typeface="Inter"/>
              </a:rPr>
              <a:t>Syntax &amp; overlay errors: incorrect path usage, missing load_parameters</a:t>
            </a:r>
          </a:p>
          <a:p>
            <a:pPr marL="553375" lvl="1" indent="-276688" algn="l">
              <a:lnSpc>
                <a:spcPts val="3588"/>
              </a:lnSpc>
              <a:buFont typeface="Arial"/>
              <a:buChar char="•"/>
            </a:pPr>
            <a:r>
              <a:rPr lang="en-US" sz="2563">
                <a:solidFill>
                  <a:srgbClr val="000000"/>
                </a:solidFill>
                <a:latin typeface="Inter"/>
                <a:ea typeface="Inter"/>
                <a:cs typeface="Inter"/>
                <a:sym typeface="Inter"/>
              </a:rPr>
              <a:t>Bitstream issues: make-hw failed due to missing Vivado HLS or libraries</a:t>
            </a:r>
          </a:p>
          <a:p>
            <a:pPr marL="553375" lvl="1" indent="-276688" algn="l">
              <a:lnSpc>
                <a:spcPts val="3588"/>
              </a:lnSpc>
              <a:buFont typeface="Arial"/>
              <a:buChar char="•"/>
            </a:pPr>
            <a:r>
              <a:rPr lang="en-US" sz="2563">
                <a:solidFill>
                  <a:srgbClr val="000000"/>
                </a:solidFill>
                <a:latin typeface="Inter"/>
                <a:ea typeface="Inter"/>
                <a:cs typeface="Inter"/>
                <a:sym typeface="Inter"/>
              </a:rPr>
              <a:t>Jupyter folder mismatches and precompiled binaries missing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rot="-5400000">
            <a:off x="14751592" y="1854404"/>
            <a:ext cx="8325896" cy="4617088"/>
          </a:xfrm>
          <a:custGeom>
            <a:avLst/>
            <a:gdLst/>
            <a:ahLst/>
            <a:cxnLst/>
            <a:rect l="l" t="t" r="r" b="b"/>
            <a:pathLst>
              <a:path w="8325896" h="4617088">
                <a:moveTo>
                  <a:pt x="0" y="0"/>
                </a:moveTo>
                <a:lnTo>
                  <a:pt x="8325896" y="0"/>
                </a:lnTo>
                <a:lnTo>
                  <a:pt x="8325896" y="4617088"/>
                </a:lnTo>
                <a:lnTo>
                  <a:pt x="0" y="46170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761106" y="-67663"/>
            <a:ext cx="6317949" cy="1644649"/>
          </a:xfrm>
          <a:prstGeom prst="rect">
            <a:avLst/>
          </a:prstGeom>
        </p:spPr>
        <p:txBody>
          <a:bodyPr lIns="0" tIns="0" rIns="0" bIns="0" rtlCol="0" anchor="t">
            <a:spAutoFit/>
          </a:bodyPr>
          <a:lstStyle/>
          <a:p>
            <a:pPr algn="l">
              <a:lnSpc>
                <a:spcPts val="13300"/>
              </a:lnSpc>
            </a:pPr>
            <a:r>
              <a:rPr lang="en-US" sz="9500">
                <a:solidFill>
                  <a:srgbClr val="6B4815"/>
                </a:solidFill>
                <a:latin typeface="TT Moons"/>
                <a:ea typeface="TT Moons"/>
                <a:cs typeface="TT Moons"/>
                <a:sym typeface="TT Moons"/>
              </a:rPr>
              <a:t>Thank You</a:t>
            </a:r>
          </a:p>
        </p:txBody>
      </p:sp>
      <p:sp>
        <p:nvSpPr>
          <p:cNvPr id="4" name="TextBox 4"/>
          <p:cNvSpPr txBox="1"/>
          <p:nvPr/>
        </p:nvSpPr>
        <p:spPr>
          <a:xfrm>
            <a:off x="17124090" y="890905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6B4815"/>
                </a:solidFill>
                <a:latin typeface="Inter"/>
                <a:ea typeface="Inter"/>
                <a:cs typeface="Inter"/>
                <a:sym typeface="Inter"/>
              </a:rPr>
              <a:t>11</a:t>
            </a:r>
          </a:p>
        </p:txBody>
      </p:sp>
      <p:sp>
        <p:nvSpPr>
          <p:cNvPr id="5" name="TextBox 5"/>
          <p:cNvSpPr txBox="1"/>
          <p:nvPr/>
        </p:nvSpPr>
        <p:spPr>
          <a:xfrm>
            <a:off x="1087576" y="1622425"/>
            <a:ext cx="16607433" cy="7432675"/>
          </a:xfrm>
          <a:prstGeom prst="rect">
            <a:avLst/>
          </a:prstGeom>
        </p:spPr>
        <p:txBody>
          <a:bodyPr lIns="0" tIns="0" rIns="0" bIns="0" rtlCol="0" anchor="t">
            <a:spAutoFit/>
          </a:bodyPr>
          <a:lstStyle/>
          <a:p>
            <a:pPr algn="l">
              <a:lnSpc>
                <a:spcPts val="3500"/>
              </a:lnSpc>
              <a:spcBef>
                <a:spcPct val="0"/>
              </a:spcBef>
            </a:pPr>
            <a:r>
              <a:rPr lang="en-US" sz="2500" b="1">
                <a:solidFill>
                  <a:srgbClr val="6B4815"/>
                </a:solidFill>
                <a:latin typeface="Inter Bold"/>
                <a:ea typeface="Inter Bold"/>
                <a:cs typeface="Inter Bold"/>
                <a:sym typeface="Inter Bold"/>
              </a:rPr>
              <a:t>Conclusion</a:t>
            </a:r>
          </a:p>
          <a:p>
            <a:pPr marL="539751" lvl="1" indent="-269876" algn="l">
              <a:lnSpc>
                <a:spcPts val="3500"/>
              </a:lnSpc>
              <a:buFont typeface="Arial"/>
              <a:buChar char="•"/>
            </a:pPr>
            <a:r>
              <a:rPr lang="en-US" sz="2500">
                <a:solidFill>
                  <a:srgbClr val="6B4815"/>
                </a:solidFill>
                <a:latin typeface="Inter"/>
                <a:ea typeface="Inter"/>
                <a:cs typeface="Inter"/>
                <a:sym typeface="Inter"/>
              </a:rPr>
              <a:t>Successfully trained a CNN-based lung cancer classifier with &gt;70% accuracy in software (Python, PyTorch)</a:t>
            </a:r>
          </a:p>
          <a:p>
            <a:pPr marL="539751" lvl="1" indent="-269876" algn="l">
              <a:lnSpc>
                <a:spcPts val="3500"/>
              </a:lnSpc>
              <a:buFont typeface="Arial"/>
              <a:buChar char="•"/>
            </a:pPr>
            <a:r>
              <a:rPr lang="en-US" sz="2500">
                <a:solidFill>
                  <a:srgbClr val="6B4815"/>
                </a:solidFill>
                <a:latin typeface="Inter"/>
                <a:ea typeface="Inter"/>
                <a:cs typeface="Inter"/>
                <a:sym typeface="Inter"/>
              </a:rPr>
              <a:t>Preprocessed and resized medical images for FPGA compatibility</a:t>
            </a:r>
          </a:p>
          <a:p>
            <a:pPr marL="539751" lvl="1" indent="-269876" algn="l">
              <a:lnSpc>
                <a:spcPts val="3500"/>
              </a:lnSpc>
              <a:buFont typeface="Arial"/>
              <a:buChar char="•"/>
            </a:pPr>
            <a:r>
              <a:rPr lang="en-US" sz="2500">
                <a:solidFill>
                  <a:srgbClr val="6B4815"/>
                </a:solidFill>
                <a:latin typeface="Inter"/>
                <a:ea typeface="Inter"/>
                <a:cs typeface="Inter"/>
                <a:sym typeface="Inter"/>
              </a:rPr>
              <a:t>Converted trained model using FINNthesizer pipeline</a:t>
            </a:r>
          </a:p>
          <a:p>
            <a:pPr marL="539751" lvl="1" indent="-269876" algn="l">
              <a:lnSpc>
                <a:spcPts val="3500"/>
              </a:lnSpc>
              <a:buFont typeface="Arial"/>
              <a:buChar char="•"/>
            </a:pPr>
            <a:r>
              <a:rPr lang="en-US" sz="2500">
                <a:solidFill>
                  <a:srgbClr val="6B4815"/>
                </a:solidFill>
                <a:latin typeface="Inter"/>
                <a:ea typeface="Inter"/>
                <a:cs typeface="Inter"/>
                <a:sym typeface="Inter"/>
              </a:rPr>
              <a:t>Deployed model files to PYNQ-Z1 board and integrated into the BNN folder</a:t>
            </a:r>
          </a:p>
          <a:p>
            <a:pPr algn="l">
              <a:lnSpc>
                <a:spcPts val="3500"/>
              </a:lnSpc>
            </a:pPr>
            <a:endParaRPr lang="en-US" sz="2500">
              <a:solidFill>
                <a:srgbClr val="6B4815"/>
              </a:solidFill>
              <a:latin typeface="Inter"/>
              <a:ea typeface="Inter"/>
              <a:cs typeface="Inter"/>
              <a:sym typeface="Inter"/>
            </a:endParaRPr>
          </a:p>
          <a:p>
            <a:pPr algn="l">
              <a:lnSpc>
                <a:spcPts val="3500"/>
              </a:lnSpc>
              <a:spcBef>
                <a:spcPct val="0"/>
              </a:spcBef>
            </a:pPr>
            <a:r>
              <a:rPr lang="en-US" sz="2500" b="1">
                <a:solidFill>
                  <a:srgbClr val="6B4815"/>
                </a:solidFill>
                <a:latin typeface="Inter Bold"/>
                <a:ea typeface="Inter Bold"/>
                <a:cs typeface="Inter Bold"/>
                <a:sym typeface="Inter Bold"/>
              </a:rPr>
              <a:t>Current Limitation</a:t>
            </a:r>
          </a:p>
          <a:p>
            <a:pPr marL="539751" lvl="1" indent="-269876" algn="l">
              <a:lnSpc>
                <a:spcPts val="3500"/>
              </a:lnSpc>
              <a:buFont typeface="Arial"/>
              <a:buChar char="•"/>
            </a:pPr>
            <a:r>
              <a:rPr lang="en-US" sz="2500">
                <a:solidFill>
                  <a:srgbClr val="6B4815"/>
                </a:solidFill>
                <a:latin typeface="Inter"/>
                <a:ea typeface="Inter"/>
                <a:cs typeface="Inter"/>
                <a:sym typeface="Inter"/>
              </a:rPr>
              <a:t>Unable to complete hardware execution phase due to:</a:t>
            </a:r>
          </a:p>
          <a:p>
            <a:pPr marL="539751" lvl="1" indent="-269876" algn="l">
              <a:lnSpc>
                <a:spcPts val="3500"/>
              </a:lnSpc>
              <a:buFont typeface="Arial"/>
              <a:buChar char="•"/>
            </a:pPr>
            <a:r>
              <a:rPr lang="en-US" sz="2500">
                <a:solidFill>
                  <a:srgbClr val="6B4815"/>
                </a:solidFill>
                <a:latin typeface="Inter"/>
                <a:ea typeface="Inter"/>
                <a:cs typeface="Inter"/>
                <a:sym typeface="Inter"/>
              </a:rPr>
              <a:t>Vivado installation issues (only 2018.2 HLS compatible)</a:t>
            </a:r>
          </a:p>
          <a:p>
            <a:pPr marL="539751" lvl="1" indent="-269876" algn="l">
              <a:lnSpc>
                <a:spcPts val="3500"/>
              </a:lnSpc>
              <a:buFont typeface="Arial"/>
              <a:buChar char="•"/>
            </a:pPr>
            <a:r>
              <a:rPr lang="en-US" sz="2500">
                <a:solidFill>
                  <a:srgbClr val="6B4815"/>
                </a:solidFill>
                <a:latin typeface="Inter"/>
                <a:ea typeface="Inter"/>
                <a:cs typeface="Inter"/>
                <a:sym typeface="Inter"/>
              </a:rPr>
              <a:t>make-hw failures and missing .so files</a:t>
            </a:r>
          </a:p>
          <a:p>
            <a:pPr marL="539751" lvl="1" indent="-269876" algn="l">
              <a:lnSpc>
                <a:spcPts val="3500"/>
              </a:lnSpc>
              <a:buFont typeface="Arial"/>
              <a:buChar char="•"/>
            </a:pPr>
            <a:r>
              <a:rPr lang="en-US" sz="2500">
                <a:solidFill>
                  <a:srgbClr val="6B4815"/>
                </a:solidFill>
                <a:latin typeface="Inter"/>
                <a:ea typeface="Inter"/>
                <a:cs typeface="Inter"/>
                <a:sym typeface="Inter"/>
              </a:rPr>
              <a:t>Bitstream overlay not exposing required IPs</a:t>
            </a:r>
          </a:p>
          <a:p>
            <a:pPr marL="539751" lvl="1" indent="-269876" algn="l">
              <a:lnSpc>
                <a:spcPts val="3500"/>
              </a:lnSpc>
              <a:buFont typeface="Arial"/>
              <a:buChar char="•"/>
            </a:pPr>
            <a:r>
              <a:rPr lang="en-US" sz="2500">
                <a:solidFill>
                  <a:srgbClr val="6B4815"/>
                </a:solidFill>
                <a:latin typeface="Inter"/>
                <a:ea typeface="Inter"/>
                <a:cs typeface="Inter"/>
                <a:sym typeface="Inter"/>
              </a:rPr>
              <a:t>Shared object libraries not generated despite extensive debugging</a:t>
            </a:r>
          </a:p>
          <a:p>
            <a:pPr algn="l">
              <a:lnSpc>
                <a:spcPts val="3500"/>
              </a:lnSpc>
            </a:pPr>
            <a:endParaRPr lang="en-US" sz="2500">
              <a:solidFill>
                <a:srgbClr val="6B4815"/>
              </a:solidFill>
              <a:latin typeface="Inter"/>
              <a:ea typeface="Inter"/>
              <a:cs typeface="Inter"/>
              <a:sym typeface="Inter"/>
            </a:endParaRPr>
          </a:p>
          <a:p>
            <a:pPr algn="l">
              <a:lnSpc>
                <a:spcPts val="3500"/>
              </a:lnSpc>
              <a:spcBef>
                <a:spcPct val="0"/>
              </a:spcBef>
            </a:pPr>
            <a:r>
              <a:rPr lang="en-US" sz="2500" b="1">
                <a:solidFill>
                  <a:srgbClr val="6B4815"/>
                </a:solidFill>
                <a:latin typeface="Inter Bold"/>
                <a:ea typeface="Inter Bold"/>
                <a:cs typeface="Inter Bold"/>
                <a:sym typeface="Inter Bold"/>
              </a:rPr>
              <a:t>Future Improvements</a:t>
            </a:r>
          </a:p>
          <a:p>
            <a:pPr marL="539751" lvl="1" indent="-269876" algn="l">
              <a:lnSpc>
                <a:spcPts val="3500"/>
              </a:lnSpc>
              <a:buFont typeface="Arial"/>
              <a:buChar char="•"/>
            </a:pPr>
            <a:r>
              <a:rPr lang="en-US" sz="2500">
                <a:solidFill>
                  <a:srgbClr val="6B4815"/>
                </a:solidFill>
                <a:latin typeface="Inter"/>
                <a:ea typeface="Inter"/>
                <a:cs typeface="Inter"/>
                <a:sym typeface="Inter"/>
              </a:rPr>
              <a:t>Rebuild hardware overlays with confirmed IP compatibility</a:t>
            </a:r>
          </a:p>
          <a:p>
            <a:pPr marL="539751" lvl="1" indent="-269876" algn="l">
              <a:lnSpc>
                <a:spcPts val="3500"/>
              </a:lnSpc>
              <a:buFont typeface="Arial"/>
              <a:buChar char="•"/>
            </a:pPr>
            <a:r>
              <a:rPr lang="en-US" sz="2500">
                <a:solidFill>
                  <a:srgbClr val="6B4815"/>
                </a:solidFill>
                <a:latin typeface="Inter"/>
                <a:ea typeface="Inter"/>
                <a:cs typeface="Inter"/>
                <a:sym typeface="Inter"/>
              </a:rPr>
              <a:t>Use a containerized environment to lock working versions of Vivado, Python, and BNN</a:t>
            </a:r>
          </a:p>
          <a:p>
            <a:pPr marL="539751" lvl="1" indent="-269876" algn="l">
              <a:lnSpc>
                <a:spcPts val="3500"/>
              </a:lnSpc>
              <a:buFont typeface="Arial"/>
              <a:buChar char="•"/>
            </a:pPr>
            <a:r>
              <a:rPr lang="en-US" sz="2500">
                <a:solidFill>
                  <a:srgbClr val="6B4815"/>
                </a:solidFill>
                <a:latin typeface="Inter"/>
                <a:ea typeface="Inter"/>
                <a:cs typeface="Inter"/>
                <a:sym typeface="Inter"/>
              </a:rPr>
              <a:t>Explore precompiled overlays or port to Ultra96 if Z1 limitations persist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11</Slides>
  <Notes>8</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and Brown Modern Creative Project Presentation</dc:title>
  <cp:revision>130</cp:revision>
  <dcterms:created xsi:type="dcterms:W3CDTF">2006-08-16T00:00:00Z</dcterms:created>
  <dcterms:modified xsi:type="dcterms:W3CDTF">2025-05-02T17:33:02Z</dcterms:modified>
  <dc:identifier>DAGmSqslB1M</dc:identifier>
</cp:coreProperties>
</file>